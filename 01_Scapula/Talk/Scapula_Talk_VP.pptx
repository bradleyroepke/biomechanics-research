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88" r:id="rId1"/>
    <p:sldMasterId id="2147483867" r:id="rId2"/>
  </p:sldMasterIdLst>
  <p:notesMasterIdLst>
    <p:notesMasterId r:id="rId12"/>
  </p:notesMasterIdLst>
  <p:handoutMasterIdLst>
    <p:handoutMasterId r:id="rId13"/>
  </p:handoutMasterIdLst>
  <p:sldIdLst>
    <p:sldId id="937" r:id="rId3"/>
    <p:sldId id="944" r:id="rId4"/>
    <p:sldId id="947" r:id="rId5"/>
    <p:sldId id="948" r:id="rId6"/>
    <p:sldId id="945" r:id="rId7"/>
    <p:sldId id="949" r:id="rId8"/>
    <p:sldId id="950" r:id="rId9"/>
    <p:sldId id="951" r:id="rId10"/>
    <p:sldId id="952" r:id="rId11"/>
    <p:sldId id="953" r:id="rId22"/>
    <p:sldId id="954" r:id="rId23"/>
    <p:sldId id="955" r:id="rId24"/>
    <p:sldId id="956" r:id="rId25"/>
    <p:sldId id="957" r:id="rId26"/>
    <p:sldId id="958" r:id="rId27"/>
    <p:sldId id="959" r:id="rId28"/>
    <p:sldId id="960" r:id="rId29"/>
    <p:sldId id="961" r:id="rId30"/>
    <p:sldId id="962" r:id="rId31"/>
    <p:sldId id="963" r:id="rId32"/>
    <p:sldId id="964" r:id="rId33"/>
    <p:sldId id="965" r:id="rId34"/>
    <p:sldId id="966" r:id="rId35"/>
    <p:sldId id="967" r:id="rId36"/>
    <p:sldId id="968" r:id="rId37"/>
    <p:sldId id="969" r:id="rId38"/>
    <p:sldId id="970" r:id="rId39"/>
    <p:sldId id="971" r:id="rId40"/>
  </p:sldIdLst>
  <p:sldSz cx="12192000" cy="6858000"/>
  <p:notesSz cx="6858000" cy="9144000"/>
  <p:embeddedFontLst>
    <p:embeddedFont>
      <p:font typeface="Arboria Black" panose="02000000000000000000" charset="0"/>
      <p:bold r:id="rId14"/>
    </p:embeddedFont>
    <p:embeddedFont>
      <p:font typeface="Arboria Bold" charset="0"/>
      <p:bold r:id="rId15"/>
    </p:embeddedFont>
    <p:embeddedFont>
      <p:font typeface="Arboria Book" panose="02000000000000000000" charset="0"/>
      <p:regular r:id="rId16"/>
    </p:embeddedFont>
  </p:embeddedFontLst>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ker, Sherri S. (HSC)" initials="BSS(" lastIdx="9" clrIdx="0">
    <p:extLst>
      <p:ext uri="{19B8F6BF-5375-455C-9EA6-DF929625EA0E}">
        <p15:presenceInfo xmlns:p15="http://schemas.microsoft.com/office/powerpoint/2012/main" userId="S-1-5-21-598231604-1040596609-1897138802-174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1617"/>
    <a:srgbClr val="A80000"/>
    <a:srgbClr val="BC0000"/>
    <a:srgbClr val="FFFFFF"/>
    <a:srgbClr val="E6E6E6"/>
    <a:srgbClr val="9A0000"/>
    <a:srgbClr val="99FFCC"/>
    <a:srgbClr val="FF7C80"/>
    <a:srgbClr val="FF5050"/>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60" autoAdjust="0"/>
    <p:restoredTop sz="93264" autoAdjust="0"/>
  </p:normalViewPr>
  <p:slideViewPr>
    <p:cSldViewPr>
      <p:cViewPr varScale="1">
        <p:scale>
          <a:sx n="103" d="100"/>
          <a:sy n="103" d="100"/>
        </p:scale>
        <p:origin x="678" y="108"/>
      </p:cViewPr>
      <p:guideLst>
        <p:guide orient="horz" pos="2160"/>
        <p:guide pos="3840"/>
      </p:guideLst>
    </p:cSldViewPr>
  </p:slideViewPr>
  <p:outlineViewPr>
    <p:cViewPr>
      <p:scale>
        <a:sx n="33" d="100"/>
        <a:sy n="33" d="100"/>
      </p:scale>
      <p:origin x="42" y="18366"/>
    </p:cViewPr>
  </p:outlineViewPr>
  <p:notesTextViewPr>
    <p:cViewPr>
      <p:scale>
        <a:sx n="3" d="2"/>
        <a:sy n="3" d="2"/>
      </p:scale>
      <p:origin x="0" y="0"/>
    </p:cViewPr>
  </p:notesTextViewPr>
  <p:sorterViewPr>
    <p:cViewPr>
      <p:scale>
        <a:sx n="66" d="100"/>
        <a:sy n="66" d="100"/>
      </p:scale>
      <p:origin x="0" y="-1032"/>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3" y="3"/>
            <a:ext cx="2971850" cy="457739"/>
          </a:xfrm>
          <a:prstGeom prst="rect">
            <a:avLst/>
          </a:prstGeom>
          <a:noFill/>
          <a:ln w="9525">
            <a:noFill/>
            <a:miter lim="800000"/>
            <a:headEnd/>
            <a:tailEnd/>
          </a:ln>
          <a:effectLst/>
        </p:spPr>
        <p:txBody>
          <a:bodyPr vert="horz" wrap="square" lIns="91406" tIns="45703" rIns="91406" bIns="45703" numCol="1" anchor="t" anchorCtr="0" compatLnSpc="1">
            <a:prstTxWarp prst="textNoShape">
              <a:avLst/>
            </a:prstTxWarp>
          </a:bodyPr>
          <a:lstStyle>
            <a:lvl1pPr defTabSz="914530">
              <a:defRPr sz="1200">
                <a:latin typeface="Times New Roman" charset="0"/>
              </a:defRPr>
            </a:lvl1pPr>
          </a:lstStyle>
          <a:p>
            <a:pPr>
              <a:defRPr/>
            </a:pPr>
            <a:endParaRPr lang="en-US" dirty="0"/>
          </a:p>
        </p:txBody>
      </p:sp>
      <p:sp>
        <p:nvSpPr>
          <p:cNvPr id="86019" name="Rectangle 3"/>
          <p:cNvSpPr>
            <a:spLocks noGrp="1" noChangeArrowheads="1"/>
          </p:cNvSpPr>
          <p:nvPr>
            <p:ph type="dt" sz="quarter" idx="1"/>
          </p:nvPr>
        </p:nvSpPr>
        <p:spPr bwMode="auto">
          <a:xfrm>
            <a:off x="3884624" y="3"/>
            <a:ext cx="2971849" cy="457739"/>
          </a:xfrm>
          <a:prstGeom prst="rect">
            <a:avLst/>
          </a:prstGeom>
          <a:noFill/>
          <a:ln w="9525">
            <a:noFill/>
            <a:miter lim="800000"/>
            <a:headEnd/>
            <a:tailEnd/>
          </a:ln>
          <a:effectLst/>
        </p:spPr>
        <p:txBody>
          <a:bodyPr vert="horz" wrap="square" lIns="91406" tIns="45703" rIns="91406" bIns="45703" numCol="1" anchor="t" anchorCtr="0" compatLnSpc="1">
            <a:prstTxWarp prst="textNoShape">
              <a:avLst/>
            </a:prstTxWarp>
          </a:bodyPr>
          <a:lstStyle>
            <a:lvl1pPr algn="r" defTabSz="914530">
              <a:defRPr sz="1200">
                <a:latin typeface="Times New Roman" charset="0"/>
              </a:defRPr>
            </a:lvl1pPr>
          </a:lstStyle>
          <a:p>
            <a:pPr>
              <a:defRPr/>
            </a:pPr>
            <a:endParaRPr lang="en-US" dirty="0"/>
          </a:p>
        </p:txBody>
      </p:sp>
      <p:sp>
        <p:nvSpPr>
          <p:cNvPr id="86020" name="Rectangle 4"/>
          <p:cNvSpPr>
            <a:spLocks noGrp="1" noChangeArrowheads="1"/>
          </p:cNvSpPr>
          <p:nvPr>
            <p:ph type="ftr" sz="quarter" idx="2"/>
          </p:nvPr>
        </p:nvSpPr>
        <p:spPr bwMode="auto">
          <a:xfrm>
            <a:off x="3" y="8684720"/>
            <a:ext cx="2971850" cy="457738"/>
          </a:xfrm>
          <a:prstGeom prst="rect">
            <a:avLst/>
          </a:prstGeom>
          <a:noFill/>
          <a:ln w="9525">
            <a:noFill/>
            <a:miter lim="800000"/>
            <a:headEnd/>
            <a:tailEnd/>
          </a:ln>
          <a:effectLst/>
        </p:spPr>
        <p:txBody>
          <a:bodyPr vert="horz" wrap="square" lIns="91406" tIns="45703" rIns="91406" bIns="45703" numCol="1" anchor="b" anchorCtr="0" compatLnSpc="1">
            <a:prstTxWarp prst="textNoShape">
              <a:avLst/>
            </a:prstTxWarp>
          </a:bodyPr>
          <a:lstStyle>
            <a:lvl1pPr defTabSz="914530">
              <a:defRPr sz="1200">
                <a:latin typeface="Times New Roman" charset="0"/>
              </a:defRPr>
            </a:lvl1pPr>
          </a:lstStyle>
          <a:p>
            <a:pPr>
              <a:defRPr/>
            </a:pPr>
            <a:endParaRPr lang="en-US" dirty="0"/>
          </a:p>
        </p:txBody>
      </p:sp>
      <p:sp>
        <p:nvSpPr>
          <p:cNvPr id="86021" name="Rectangle 5"/>
          <p:cNvSpPr>
            <a:spLocks noGrp="1" noChangeArrowheads="1"/>
          </p:cNvSpPr>
          <p:nvPr>
            <p:ph type="sldNum" sz="quarter" idx="3"/>
          </p:nvPr>
        </p:nvSpPr>
        <p:spPr bwMode="auto">
          <a:xfrm>
            <a:off x="3884624" y="8684720"/>
            <a:ext cx="2971849" cy="457738"/>
          </a:xfrm>
          <a:prstGeom prst="rect">
            <a:avLst/>
          </a:prstGeom>
          <a:noFill/>
          <a:ln w="9525">
            <a:noFill/>
            <a:miter lim="800000"/>
            <a:headEnd/>
            <a:tailEnd/>
          </a:ln>
          <a:effectLst/>
        </p:spPr>
        <p:txBody>
          <a:bodyPr vert="horz" wrap="square" lIns="91406" tIns="45703" rIns="91406" bIns="45703" numCol="1" anchor="b" anchorCtr="0" compatLnSpc="1">
            <a:prstTxWarp prst="textNoShape">
              <a:avLst/>
            </a:prstTxWarp>
          </a:bodyPr>
          <a:lstStyle>
            <a:lvl1pPr algn="r" defTabSz="914530">
              <a:defRPr sz="1200">
                <a:latin typeface="Times New Roman" charset="0"/>
              </a:defRPr>
            </a:lvl1pPr>
          </a:lstStyle>
          <a:p>
            <a:pPr>
              <a:defRPr/>
            </a:pPr>
            <a:fld id="{B89E08BC-455B-4C18-9145-01FB7813F754}" type="slidenum">
              <a:rPr lang="en-US"/>
              <a:pPr>
                <a:defRPr/>
              </a:pPr>
              <a:t>‹#›</a:t>
            </a:fld>
            <a:endParaRPr lang="en-US" dirty="0"/>
          </a:p>
        </p:txBody>
      </p:sp>
    </p:spTree>
    <p:extLst>
      <p:ext uri="{BB962C8B-B14F-4D97-AF65-F5344CB8AC3E}">
        <p14:creationId xmlns:p14="http://schemas.microsoft.com/office/powerpoint/2010/main" val="40516825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3" y="3"/>
            <a:ext cx="2971850" cy="457739"/>
          </a:xfrm>
          <a:prstGeom prst="rect">
            <a:avLst/>
          </a:prstGeom>
          <a:noFill/>
          <a:ln w="9525">
            <a:noFill/>
            <a:miter lim="800000"/>
            <a:headEnd/>
            <a:tailEnd/>
          </a:ln>
          <a:effectLst/>
        </p:spPr>
        <p:txBody>
          <a:bodyPr vert="horz" wrap="square" lIns="91406" tIns="45703" rIns="91406" bIns="45703" numCol="1" anchor="t" anchorCtr="0" compatLnSpc="1">
            <a:prstTxWarp prst="textNoShape">
              <a:avLst/>
            </a:prstTxWarp>
          </a:bodyPr>
          <a:lstStyle>
            <a:lvl1pPr defTabSz="914530">
              <a:defRPr sz="1200">
                <a:latin typeface="Times New Roman" charset="0"/>
              </a:defRPr>
            </a:lvl1pPr>
          </a:lstStyle>
          <a:p>
            <a:pPr>
              <a:defRPr/>
            </a:pPr>
            <a:endParaRPr lang="en-US" dirty="0"/>
          </a:p>
        </p:txBody>
      </p:sp>
      <p:sp>
        <p:nvSpPr>
          <p:cNvPr id="61443" name="Rectangle 3"/>
          <p:cNvSpPr>
            <a:spLocks noGrp="1" noChangeArrowheads="1"/>
          </p:cNvSpPr>
          <p:nvPr>
            <p:ph type="dt" idx="1"/>
          </p:nvPr>
        </p:nvSpPr>
        <p:spPr bwMode="auto">
          <a:xfrm>
            <a:off x="3884624" y="3"/>
            <a:ext cx="2971849" cy="457739"/>
          </a:xfrm>
          <a:prstGeom prst="rect">
            <a:avLst/>
          </a:prstGeom>
          <a:noFill/>
          <a:ln w="9525">
            <a:noFill/>
            <a:miter lim="800000"/>
            <a:headEnd/>
            <a:tailEnd/>
          </a:ln>
          <a:effectLst/>
        </p:spPr>
        <p:txBody>
          <a:bodyPr vert="horz" wrap="square" lIns="91406" tIns="45703" rIns="91406" bIns="45703" numCol="1" anchor="t" anchorCtr="0" compatLnSpc="1">
            <a:prstTxWarp prst="textNoShape">
              <a:avLst/>
            </a:prstTxWarp>
          </a:bodyPr>
          <a:lstStyle>
            <a:lvl1pPr algn="r" defTabSz="914530">
              <a:defRPr sz="1200">
                <a:latin typeface="Times New Roman" charset="0"/>
              </a:defRPr>
            </a:lvl1pPr>
          </a:lstStyle>
          <a:p>
            <a:pPr>
              <a:defRPr/>
            </a:pPr>
            <a:endParaRPr lang="en-US" dirty="0"/>
          </a:p>
        </p:txBody>
      </p:sp>
      <p:sp>
        <p:nvSpPr>
          <p:cNvPr id="4198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61445" name="Rectangle 5"/>
          <p:cNvSpPr>
            <a:spLocks noGrp="1" noChangeArrowheads="1"/>
          </p:cNvSpPr>
          <p:nvPr>
            <p:ph type="body" sz="quarter" idx="3"/>
          </p:nvPr>
        </p:nvSpPr>
        <p:spPr bwMode="auto">
          <a:xfrm>
            <a:off x="685344" y="4343132"/>
            <a:ext cx="5487314" cy="4115031"/>
          </a:xfrm>
          <a:prstGeom prst="rect">
            <a:avLst/>
          </a:prstGeom>
          <a:noFill/>
          <a:ln w="9525">
            <a:noFill/>
            <a:miter lim="800000"/>
            <a:headEnd/>
            <a:tailEnd/>
          </a:ln>
          <a:effectLst/>
        </p:spPr>
        <p:txBody>
          <a:bodyPr vert="horz" wrap="square" lIns="91406" tIns="45703" rIns="91406" bIns="4570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446" name="Rectangle 6"/>
          <p:cNvSpPr>
            <a:spLocks noGrp="1" noChangeArrowheads="1"/>
          </p:cNvSpPr>
          <p:nvPr>
            <p:ph type="ftr" sz="quarter" idx="4"/>
          </p:nvPr>
        </p:nvSpPr>
        <p:spPr bwMode="auto">
          <a:xfrm>
            <a:off x="3" y="8684720"/>
            <a:ext cx="2971850" cy="457738"/>
          </a:xfrm>
          <a:prstGeom prst="rect">
            <a:avLst/>
          </a:prstGeom>
          <a:noFill/>
          <a:ln w="9525">
            <a:noFill/>
            <a:miter lim="800000"/>
            <a:headEnd/>
            <a:tailEnd/>
          </a:ln>
          <a:effectLst/>
        </p:spPr>
        <p:txBody>
          <a:bodyPr vert="horz" wrap="square" lIns="91406" tIns="45703" rIns="91406" bIns="45703" numCol="1" anchor="b" anchorCtr="0" compatLnSpc="1">
            <a:prstTxWarp prst="textNoShape">
              <a:avLst/>
            </a:prstTxWarp>
          </a:bodyPr>
          <a:lstStyle>
            <a:lvl1pPr defTabSz="914530">
              <a:defRPr sz="1200">
                <a:latin typeface="Times New Roman" charset="0"/>
              </a:defRPr>
            </a:lvl1pPr>
          </a:lstStyle>
          <a:p>
            <a:pPr>
              <a:defRPr/>
            </a:pPr>
            <a:endParaRPr lang="en-US" dirty="0"/>
          </a:p>
        </p:txBody>
      </p:sp>
      <p:sp>
        <p:nvSpPr>
          <p:cNvPr id="61447" name="Rectangle 7"/>
          <p:cNvSpPr>
            <a:spLocks noGrp="1" noChangeArrowheads="1"/>
          </p:cNvSpPr>
          <p:nvPr>
            <p:ph type="sldNum" sz="quarter" idx="5"/>
          </p:nvPr>
        </p:nvSpPr>
        <p:spPr bwMode="auto">
          <a:xfrm>
            <a:off x="3884624" y="8684720"/>
            <a:ext cx="2971849" cy="457738"/>
          </a:xfrm>
          <a:prstGeom prst="rect">
            <a:avLst/>
          </a:prstGeom>
          <a:noFill/>
          <a:ln w="9525">
            <a:noFill/>
            <a:miter lim="800000"/>
            <a:headEnd/>
            <a:tailEnd/>
          </a:ln>
          <a:effectLst/>
        </p:spPr>
        <p:txBody>
          <a:bodyPr vert="horz" wrap="square" lIns="91406" tIns="45703" rIns="91406" bIns="45703" numCol="1" anchor="b" anchorCtr="0" compatLnSpc="1">
            <a:prstTxWarp prst="textNoShape">
              <a:avLst/>
            </a:prstTxWarp>
          </a:bodyPr>
          <a:lstStyle>
            <a:lvl1pPr algn="r" defTabSz="914530">
              <a:defRPr sz="1200">
                <a:latin typeface="Times New Roman" charset="0"/>
              </a:defRPr>
            </a:lvl1pPr>
          </a:lstStyle>
          <a:p>
            <a:pPr>
              <a:defRPr/>
            </a:pPr>
            <a:fld id="{DB68E3F1-2C08-40C6-A102-A5071ABB63AB}" type="slidenum">
              <a:rPr lang="en-US"/>
              <a:pPr>
                <a:defRPr/>
              </a:pPr>
              <a:t>‹#›</a:t>
            </a:fld>
            <a:endParaRPr lang="en-US" dirty="0"/>
          </a:p>
        </p:txBody>
      </p:sp>
    </p:spTree>
    <p:extLst>
      <p:ext uri="{BB962C8B-B14F-4D97-AF65-F5344CB8AC3E}">
        <p14:creationId xmlns:p14="http://schemas.microsoft.com/office/powerpoint/2010/main" val="23725734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 experiences have led me to think long and hard about the scapula. The more I've studied it, the more I've noticed that many of the unanswered questions in shoulder surgery seem to converge on this one structure. I want to share some of what I've found — not as definitive answers, but as intellectual discussion points. I think there's something here worth exploring together.</a:t>
            </a:r>
          </a:p>
          <a:p/>
          <a:p>
            <a:r>
              <a:t>I don't have complete answers to any of these. But I've found that the scapula keeps showing up — in the morphology data, in the kinematics data, in the arthroplasty data. Today I want to walk you through what I've found and see what you think.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image of the scapula. Let it sit for a moment. No text needed beyond the title. The audience connects it to the unanswered questions.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look at the clinical data, it's worth pausing on something we all learned in anatomy but maybe haven't thought deeply about since. The scapulothoracic articulation has no bony joint. The scapula is a compression element suspended entirely within a tension network. Its position at any moment is determined by the balance of forces acting on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these without commentary — let them speak. The subacromial space data is from Borstad 2005 citing Flatow and Lukasiewicz measurement studies. The posture data is Kebaetse 1999 — n=34 healthy subjects, repeated measures. The kinetic chain data is Kibler 1998. The SHR data is McClure 2001 — bone pins drilled directly into the scapular spine in 8 living subjects, the gold standard.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the scapulothoracic articulation designed this way? Evolution needed a structure simultaneously stable enough to anchor the rotator cuff and mobile enough to position the glenoid across a huge range. A bony joint can't do both. A muscular suspension can — but at a cost. Kuhn 2016 in Am J Orthopedics. Selby 2017 in Am J Physical Anthropology.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Seitz et al. 2012, JOSPT, 54 citations. The SAT changes scapular position and increases subacromial space, though it did not change rotator cuff strength in their study. This is the most practical clinical test we have for identifying scapular contribution to shoulder symptoms.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intellectual lineage: Nyffeler 2006 introduced the Acromion Index. Moor 2013 combined it with glenoid inclination into the CSA. Viehöfer 2016 showed the mechanism — higher CSA requires cuff forces exceeding physiological values. Davide 2016 showed dose-response. Passaplan 2021 from Gerber's group showed CSA is stable over 10+ years — it's innate, not acquired.</a:t>
            </a:r>
          </a:p>
          <a:p/>
          <a:p>
            <a:r>
              <a:t>Honest caveat: Arnar 2017 found CSA associated with OA but NOT cuff tears (OR 1.12, p=.63). Not all studies agree. Present this openly.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Garcia 2017: n=76, retrospective. Gerber 2018: n=49, lateral acromioplasty without anterior acromioplasty. Only ~6mm of lateral acromion resected. This is Gerber himself — the same group that introduced the CSA concept — now surgically correcting it. The finding that postoperative CSA was larger in failed repairs is particularly compelling.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Meyer 2019: n=41 posterior instability vs 41 anterior instability vs 53 controls. Level III retrospective. The OR of 39 is striking — for context, smoking's OR for lung cancer is ~15-30.</a:t>
            </a:r>
          </a:p>
          <a:p/>
          <a:p>
            <a:r>
              <a:t>Hochreiter 2023: 5 3D-printed scapula models. Normal scapula required much less translation for humeral head to contact acromion.</a:t>
            </a:r>
          </a:p>
          <a:p/>
          <a:p>
            <a:r>
              <a:t>Gerber 2025: Level IV case series. 1 clinical failure. Early results. But 6/9 were revisions — previous glenoid/soft tissue approaches had failed. The direction is clear: you must address the acromion.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speculative slide. Be upfront about it. Bryce proved the geometry. Akgun showed the orientation differences exist. Domos 2017 described the B0 progression. But nobody has proven causation.</a:t>
            </a:r>
          </a:p>
          <a:p/>
          <a:p>
            <a:r>
              <a:t>If pressed for time, this slide can be cut entirely.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Walker 2015: 3D model-image registration from fluoroscopy. Three different implant designs (Tornier, DJO, Exactech) — all showed dramatically altered SHR. His conclusion: 'particular attention to the periscapular muscles' is needed.</a:t>
            </a:r>
          </a:p>
          <a:p/>
          <a:p>
            <a:r>
              <a:t>Kawashima 2025: n=20, semi-inlay type, Level III. Positive correlation between SHR and ASES (r=0.452, p=.045). Small study, needs replication.</a:t>
            </a:r>
          </a:p>
          <a:p/>
          <a:p>
            <a:r>
              <a:t>The irony: we convert the shoulder from tension-based stability (cuff) to geometry-based constraint (prosthesis), while increasing tension demands on the scapulothoracic system.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Mercurio 2026: prospective, n=21, 3D magnetic inertial sensors. If dyskinesis was caused by the cuff tear, it should resolve after repair. It doesn't. This suggests the dysfunction may be independent of — or upstream of — the cuff pathology.</a:t>
            </a:r>
          </a:p>
          <a:p/>
          <a:p>
            <a:r>
              <a:t>Gibbons 2016: cadaveric muscle architecture study. In massive tears, sarcomeres drop below optimal length-tension range. The muscle has structurally remodeled.</a:t>
            </a:r>
          </a:p>
          <a:p/>
          <a:p>
            <a:r>
              <a:t>The prehab argument: if muscles have remodeled to accommodate years of dysfunction, and we then impose new demands with rTSA, we're asking structurally compromised muscles to do more. Rehabilitation before surgery — early enough for sarcomere remodeling — is the strongest argument.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tensegrity once, here, after the audience has absorbed 18 minutes of evidence that demonstrates the principle. By now it's not a theory to defend — it's just the most accurate word for what they've been shown. Mention Ingber (Science, Nature) only if asked in Q&amp;A.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genuine open questions. Present them as the research program you're pursuing, not as rhetorical devices. The audience should feel invited into the inquiry.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actionable takeaways. These are all supported by published evidence: SAT (Seitz 2012), CSA measurement (Moor 2013), lateral acromioplasty (Gerber 2018), scapular rehab (Camargo 2015, Burkhart 2003).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A building with a red curved roof&#10;&#10;Description automatically generated">
            <a:extLst>
              <a:ext uri="{FF2B5EF4-FFF2-40B4-BE49-F238E27FC236}">
                <a16:creationId xmlns:a16="http://schemas.microsoft.com/office/drawing/2014/main" id="{C7582E80-5EA9-24E4-3556-C92DA2D8FA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p:cNvSpPr>
            <a:spLocks noGrp="1"/>
          </p:cNvSpPr>
          <p:nvPr>
            <p:ph type="subTitle" idx="1" hasCustomPrompt="1"/>
          </p:nvPr>
        </p:nvSpPr>
        <p:spPr>
          <a:xfrm>
            <a:off x="457200" y="2362200"/>
            <a:ext cx="8534400" cy="1752600"/>
          </a:xfrm>
        </p:spPr>
        <p:txBody>
          <a:bodyPr/>
          <a:lstStyle>
            <a:lvl1pPr marL="0" indent="0" algn="l">
              <a:buNone/>
              <a:defRPr sz="2500" b="1" i="0">
                <a:solidFill>
                  <a:srgbClr val="841617"/>
                </a:solidFill>
                <a:latin typeface="Arboria Black" panose="02000000000000000000" pitchFamily="2" charset="77"/>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2" name="Title 1"/>
          <p:cNvSpPr>
            <a:spLocks noGrp="1"/>
          </p:cNvSpPr>
          <p:nvPr>
            <p:ph type="ctrTitle" hasCustomPrompt="1"/>
          </p:nvPr>
        </p:nvSpPr>
        <p:spPr>
          <a:xfrm>
            <a:off x="457200" y="2503487"/>
            <a:ext cx="10363200" cy="1470025"/>
          </a:xfrm>
        </p:spPr>
        <p:txBody>
          <a:bodyPr/>
          <a:lstStyle>
            <a:lvl1pPr algn="l">
              <a:defRPr sz="6000" b="1" i="0">
                <a:solidFill>
                  <a:srgbClr val="841617"/>
                </a:solidFill>
                <a:latin typeface="Mongoose Regular" panose="02000000000000000000" pitchFamily="2" charset="77"/>
              </a:defRPr>
            </a:lvl1pPr>
          </a:lstStyle>
          <a:p>
            <a:r>
              <a:rPr lang="en-US" dirty="0"/>
              <a:t>CLICK TO EDIT MASTER TITLE STYLE</a:t>
            </a:r>
          </a:p>
        </p:txBody>
      </p:sp>
      <p:pic>
        <p:nvPicPr>
          <p:cNvPr id="5" name="Picture 4" descr="A black background with red text&#10;&#10;AI-generated content may be incorrect.">
            <a:extLst>
              <a:ext uri="{FF2B5EF4-FFF2-40B4-BE49-F238E27FC236}">
                <a16:creationId xmlns:a16="http://schemas.microsoft.com/office/drawing/2014/main" id="{90AC5EB1-1DC3-ED1A-354A-4F993012EFB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7200" y="4219644"/>
            <a:ext cx="4334606" cy="108888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4E323E37-73DD-4F81-BD8A-13F967C96BAD}"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9E4C7DAB-9EAF-4EBE-836C-FDB2B1D5B18D}"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C1811D8E-0036-480C-9EA6-A86CAB4AE760}"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p:cNvSpPr>
            <a:spLocks noGrp="1" noChangeArrowheads="1"/>
          </p:cNvSpPr>
          <p:nvPr>
            <p:ph type="sldNum" sz="quarter" idx="12"/>
          </p:nvPr>
        </p:nvSpPr>
        <p:spPr>
          <a:ln/>
        </p:spPr>
        <p:txBody>
          <a:bodyPr/>
          <a:lstStyle>
            <a:lvl1pPr>
              <a:defRPr/>
            </a:lvl1pPr>
          </a:lstStyle>
          <a:p>
            <a:pPr>
              <a:defRPr/>
            </a:pPr>
            <a:fld id="{FFA09796-415A-46A0-9E05-C18C3E784A8B}"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a:ln/>
        </p:spPr>
        <p:txBody>
          <a:bodyPr/>
          <a:lstStyle>
            <a:lvl1pPr>
              <a:defRPr/>
            </a:lvl1pPr>
          </a:lstStyle>
          <a:p>
            <a:pPr>
              <a:defRPr/>
            </a:pPr>
            <a:fld id="{EA1EF851-C4DA-4911-B094-C8D0650240DE}"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p:cNvSpPr>
            <a:spLocks noGrp="1" noChangeArrowheads="1"/>
          </p:cNvSpPr>
          <p:nvPr>
            <p:ph type="sldNum" sz="quarter" idx="12"/>
          </p:nvPr>
        </p:nvSpPr>
        <p:spPr>
          <a:ln/>
        </p:spPr>
        <p:txBody>
          <a:bodyPr/>
          <a:lstStyle>
            <a:lvl1pPr>
              <a:defRPr/>
            </a:lvl1pPr>
          </a:lstStyle>
          <a:p>
            <a:pPr>
              <a:defRPr/>
            </a:pPr>
            <a:fld id="{510ADED2-5E6C-42F3-934D-19E1CDA6FBFE}"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60CB129D-0948-460C-A462-0CE73AD19609}"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83B097D4-F14F-40FA-B449-B264A75AD3B9}"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66AC67C7-D976-4F51-90DF-095F73087D42}"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FDC8B4F5-370F-4B53-B41A-7F3203AFD142}"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3" name="Picture 2" descr="Shape, rectangle&#10;&#10;Description automatically generated">
            <a:extLst>
              <a:ext uri="{FF2B5EF4-FFF2-40B4-BE49-F238E27FC236}">
                <a16:creationId xmlns:a16="http://schemas.microsoft.com/office/drawing/2014/main" id="{90558495-3BC3-E3C0-AF92-968F0799556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23273"/>
            <a:ext cx="12192000" cy="6858000"/>
          </a:xfrm>
          <a:prstGeom prst="rect">
            <a:avLst/>
          </a:prstGeom>
        </p:spPr>
      </p:pic>
      <p:pic>
        <p:nvPicPr>
          <p:cNvPr id="4" name="Picture 3" descr="A red square with white dots&#10;&#10;Description automatically generated">
            <a:extLst>
              <a:ext uri="{FF2B5EF4-FFF2-40B4-BE49-F238E27FC236}">
                <a16:creationId xmlns:a16="http://schemas.microsoft.com/office/drawing/2014/main" id="{7FBA7789-B7FE-0B59-0FD9-2299A630233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1447800"/>
          </a:xfrm>
          <a:prstGeom prst="rect">
            <a:avLst/>
          </a:prstGeom>
        </p:spPr>
      </p:pic>
      <p:pic>
        <p:nvPicPr>
          <p:cNvPr id="7" name="Picture 6" descr="A red square with white dots&#10;&#10;Description automatically generated">
            <a:extLst>
              <a:ext uri="{FF2B5EF4-FFF2-40B4-BE49-F238E27FC236}">
                <a16:creationId xmlns:a16="http://schemas.microsoft.com/office/drawing/2014/main" id="{330ECBA5-A556-803D-0226-DD79BBAA57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33473"/>
            <a:ext cx="12192000" cy="1447800"/>
          </a:xfrm>
          <a:prstGeom prst="rect">
            <a:avLst/>
          </a:prstGeom>
        </p:spPr>
      </p:pic>
      <p:sp>
        <p:nvSpPr>
          <p:cNvPr id="2" name="Title 1"/>
          <p:cNvSpPr>
            <a:spLocks noGrp="1"/>
          </p:cNvSpPr>
          <p:nvPr>
            <p:ph type="title" hasCustomPrompt="1"/>
          </p:nvPr>
        </p:nvSpPr>
        <p:spPr>
          <a:xfrm>
            <a:off x="2743200" y="2667000"/>
            <a:ext cx="10020635" cy="1053850"/>
          </a:xfrm>
        </p:spPr>
        <p:txBody>
          <a:bodyPr anchor="b"/>
          <a:lstStyle>
            <a:lvl1pPr>
              <a:defRPr sz="4000" b="1" i="0">
                <a:solidFill>
                  <a:schemeClr val="bg1"/>
                </a:solidFill>
                <a:latin typeface="Arboria Bold" panose="02000000000000000000" pitchFamily="2" charset="77"/>
              </a:defRPr>
            </a:lvl1pPr>
          </a:lstStyle>
          <a:p>
            <a:r>
              <a:rPr lang="en-US" dirty="0"/>
              <a:t>CLICK TO EDIT TITLE</a:t>
            </a:r>
          </a:p>
        </p:txBody>
      </p:sp>
      <p:sp>
        <p:nvSpPr>
          <p:cNvPr id="6" name="Slide Number Placeholder 5"/>
          <p:cNvSpPr>
            <a:spLocks noGrp="1"/>
          </p:cNvSpPr>
          <p:nvPr>
            <p:ph type="sldNum" sz="quarter" idx="12"/>
          </p:nvPr>
        </p:nvSpPr>
        <p:spPr/>
        <p:txBody>
          <a:bodyPr/>
          <a:lstStyle/>
          <a:p>
            <a:fld id="{40D7EE0D-DF15-4744-81AA-973DFFDBC556}" type="slidenum">
              <a:rPr lang="en-US" smtClean="0"/>
              <a:t>‹#›</a:t>
            </a:fld>
            <a:endParaRPr lang="en-US"/>
          </a:p>
        </p:txBody>
      </p:sp>
    </p:spTree>
    <p:extLst>
      <p:ext uri="{BB962C8B-B14F-4D97-AF65-F5344CB8AC3E}">
        <p14:creationId xmlns:p14="http://schemas.microsoft.com/office/powerpoint/2010/main" val="13760834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A building with a red curved roof&#10;&#10;Description automatically generated">
            <a:extLst>
              <a:ext uri="{FF2B5EF4-FFF2-40B4-BE49-F238E27FC236}">
                <a16:creationId xmlns:a16="http://schemas.microsoft.com/office/drawing/2014/main" id="{C7582E80-5EA9-24E4-3556-C92DA2D8FA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p:cNvSpPr>
            <a:spLocks noGrp="1"/>
          </p:cNvSpPr>
          <p:nvPr>
            <p:ph type="subTitle" idx="1" hasCustomPrompt="1"/>
          </p:nvPr>
        </p:nvSpPr>
        <p:spPr>
          <a:xfrm>
            <a:off x="457200" y="2362200"/>
            <a:ext cx="8534400" cy="1752600"/>
          </a:xfrm>
        </p:spPr>
        <p:txBody>
          <a:bodyPr/>
          <a:lstStyle>
            <a:lvl1pPr marL="0" indent="0" algn="l">
              <a:buNone/>
              <a:defRPr sz="2500" b="1" i="0">
                <a:solidFill>
                  <a:srgbClr val="841617"/>
                </a:solidFill>
                <a:latin typeface="Arboria Black" panose="02000000000000000000" pitchFamily="2" charset="77"/>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2" name="Title 1"/>
          <p:cNvSpPr>
            <a:spLocks noGrp="1"/>
          </p:cNvSpPr>
          <p:nvPr>
            <p:ph type="ctrTitle" hasCustomPrompt="1"/>
          </p:nvPr>
        </p:nvSpPr>
        <p:spPr>
          <a:xfrm>
            <a:off x="457200" y="2503487"/>
            <a:ext cx="10363200" cy="1470025"/>
          </a:xfrm>
        </p:spPr>
        <p:txBody>
          <a:bodyPr/>
          <a:lstStyle>
            <a:lvl1pPr algn="l">
              <a:defRPr sz="6000" b="1" i="0">
                <a:solidFill>
                  <a:srgbClr val="841617"/>
                </a:solidFill>
                <a:latin typeface="Mongoose Regular" panose="02000000000000000000" pitchFamily="2" charset="77"/>
              </a:defRPr>
            </a:lvl1pPr>
          </a:lstStyle>
          <a:p>
            <a:r>
              <a:rPr lang="en-US" dirty="0"/>
              <a:t>CLICK TO EDIT MASTER TITLE STYLE</a:t>
            </a:r>
          </a:p>
        </p:txBody>
      </p:sp>
      <p:pic>
        <p:nvPicPr>
          <p:cNvPr id="4" name="Picture 3" descr="A black background with red text&#10;&#10;AI-generated content may be incorrect.">
            <a:extLst>
              <a:ext uri="{FF2B5EF4-FFF2-40B4-BE49-F238E27FC236}">
                <a16:creationId xmlns:a16="http://schemas.microsoft.com/office/drawing/2014/main" id="{8B425D19-AABC-EC2F-5F7C-3A436449262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7200" y="4219644"/>
            <a:ext cx="4334606" cy="1088886"/>
          </a:xfrm>
          <a:prstGeom prst="rect">
            <a:avLst/>
          </a:prstGeom>
        </p:spPr>
      </p:pic>
    </p:spTree>
    <p:extLst>
      <p:ext uri="{BB962C8B-B14F-4D97-AF65-F5344CB8AC3E}">
        <p14:creationId xmlns:p14="http://schemas.microsoft.com/office/powerpoint/2010/main" val="3747297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4E323E37-73DD-4F81-BD8A-13F967C96BAD}" type="slidenum">
              <a:rPr lang="en-US"/>
              <a:pPr>
                <a:defRPr/>
              </a:pPr>
              <a:t>‹#›</a:t>
            </a:fld>
            <a:endParaRPr lang="en-US" dirty="0"/>
          </a:p>
        </p:txBody>
      </p:sp>
    </p:spTree>
    <p:extLst>
      <p:ext uri="{BB962C8B-B14F-4D97-AF65-F5344CB8AC3E}">
        <p14:creationId xmlns:p14="http://schemas.microsoft.com/office/powerpoint/2010/main" val="2157265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9E4C7DAB-9EAF-4EBE-836C-FDB2B1D5B18D}" type="slidenum">
              <a:rPr lang="en-US"/>
              <a:pPr>
                <a:defRPr/>
              </a:pPr>
              <a:t>‹#›</a:t>
            </a:fld>
            <a:endParaRPr lang="en-US" dirty="0"/>
          </a:p>
        </p:txBody>
      </p:sp>
    </p:spTree>
    <p:extLst>
      <p:ext uri="{BB962C8B-B14F-4D97-AF65-F5344CB8AC3E}">
        <p14:creationId xmlns:p14="http://schemas.microsoft.com/office/powerpoint/2010/main" val="10431167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C1811D8E-0036-480C-9EA6-A86CAB4AE760}" type="slidenum">
              <a:rPr lang="en-US"/>
              <a:pPr>
                <a:defRPr/>
              </a:pPr>
              <a:t>‹#›</a:t>
            </a:fld>
            <a:endParaRPr lang="en-US" dirty="0"/>
          </a:p>
        </p:txBody>
      </p:sp>
    </p:spTree>
    <p:extLst>
      <p:ext uri="{BB962C8B-B14F-4D97-AF65-F5344CB8AC3E}">
        <p14:creationId xmlns:p14="http://schemas.microsoft.com/office/powerpoint/2010/main" val="13823101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p:cNvSpPr>
            <a:spLocks noGrp="1" noChangeArrowheads="1"/>
          </p:cNvSpPr>
          <p:nvPr>
            <p:ph type="sldNum" sz="quarter" idx="12"/>
          </p:nvPr>
        </p:nvSpPr>
        <p:spPr>
          <a:ln/>
        </p:spPr>
        <p:txBody>
          <a:bodyPr/>
          <a:lstStyle>
            <a:lvl1pPr>
              <a:defRPr/>
            </a:lvl1pPr>
          </a:lstStyle>
          <a:p>
            <a:pPr>
              <a:defRPr/>
            </a:pPr>
            <a:fld id="{FFA09796-415A-46A0-9E05-C18C3E784A8B}" type="slidenum">
              <a:rPr lang="en-US"/>
              <a:pPr>
                <a:defRPr/>
              </a:pPr>
              <a:t>‹#›</a:t>
            </a:fld>
            <a:endParaRPr lang="en-US" dirty="0"/>
          </a:p>
        </p:txBody>
      </p:sp>
    </p:spTree>
    <p:extLst>
      <p:ext uri="{BB962C8B-B14F-4D97-AF65-F5344CB8AC3E}">
        <p14:creationId xmlns:p14="http://schemas.microsoft.com/office/powerpoint/2010/main" val="18103186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a:ln/>
        </p:spPr>
        <p:txBody>
          <a:bodyPr/>
          <a:lstStyle>
            <a:lvl1pPr>
              <a:defRPr/>
            </a:lvl1pPr>
          </a:lstStyle>
          <a:p>
            <a:pPr>
              <a:defRPr/>
            </a:pPr>
            <a:fld id="{EA1EF851-C4DA-4911-B094-C8D0650240DE}" type="slidenum">
              <a:rPr lang="en-US"/>
              <a:pPr>
                <a:defRPr/>
              </a:pPr>
              <a:t>‹#›</a:t>
            </a:fld>
            <a:endParaRPr lang="en-US" dirty="0"/>
          </a:p>
        </p:txBody>
      </p:sp>
    </p:spTree>
    <p:extLst>
      <p:ext uri="{BB962C8B-B14F-4D97-AF65-F5344CB8AC3E}">
        <p14:creationId xmlns:p14="http://schemas.microsoft.com/office/powerpoint/2010/main" val="29575827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p:cNvSpPr>
            <a:spLocks noGrp="1" noChangeArrowheads="1"/>
          </p:cNvSpPr>
          <p:nvPr>
            <p:ph type="sldNum" sz="quarter" idx="12"/>
          </p:nvPr>
        </p:nvSpPr>
        <p:spPr>
          <a:ln/>
        </p:spPr>
        <p:txBody>
          <a:bodyPr/>
          <a:lstStyle>
            <a:lvl1pPr>
              <a:defRPr/>
            </a:lvl1pPr>
          </a:lstStyle>
          <a:p>
            <a:pPr>
              <a:defRPr/>
            </a:pPr>
            <a:fld id="{510ADED2-5E6C-42F3-934D-19E1CDA6FBFE}" type="slidenum">
              <a:rPr lang="en-US"/>
              <a:pPr>
                <a:defRPr/>
              </a:pPr>
              <a:t>‹#›</a:t>
            </a:fld>
            <a:endParaRPr lang="en-US" dirty="0"/>
          </a:p>
        </p:txBody>
      </p:sp>
    </p:spTree>
    <p:extLst>
      <p:ext uri="{BB962C8B-B14F-4D97-AF65-F5344CB8AC3E}">
        <p14:creationId xmlns:p14="http://schemas.microsoft.com/office/powerpoint/2010/main" val="16035287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60CB129D-0948-460C-A462-0CE73AD19609}" type="slidenum">
              <a:rPr lang="en-US"/>
              <a:pPr>
                <a:defRPr/>
              </a:pPr>
              <a:t>‹#›</a:t>
            </a:fld>
            <a:endParaRPr lang="en-US" dirty="0"/>
          </a:p>
        </p:txBody>
      </p:sp>
    </p:spTree>
    <p:extLst>
      <p:ext uri="{BB962C8B-B14F-4D97-AF65-F5344CB8AC3E}">
        <p14:creationId xmlns:p14="http://schemas.microsoft.com/office/powerpoint/2010/main" val="37751827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83B097D4-F14F-40FA-B449-B264A75AD3B9}" type="slidenum">
              <a:rPr lang="en-US"/>
              <a:pPr>
                <a:defRPr/>
              </a:pPr>
              <a:t>‹#›</a:t>
            </a:fld>
            <a:endParaRPr lang="en-US" dirty="0"/>
          </a:p>
        </p:txBody>
      </p:sp>
    </p:spTree>
    <p:extLst>
      <p:ext uri="{BB962C8B-B14F-4D97-AF65-F5344CB8AC3E}">
        <p14:creationId xmlns:p14="http://schemas.microsoft.com/office/powerpoint/2010/main" val="19013697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66AC67C7-D976-4F51-90DF-095F73087D42}" type="slidenum">
              <a:rPr lang="en-US"/>
              <a:pPr>
                <a:defRPr/>
              </a:pPr>
              <a:t>‹#›</a:t>
            </a:fld>
            <a:endParaRPr lang="en-US" dirty="0"/>
          </a:p>
        </p:txBody>
      </p:sp>
    </p:spTree>
    <p:extLst>
      <p:ext uri="{BB962C8B-B14F-4D97-AF65-F5344CB8AC3E}">
        <p14:creationId xmlns:p14="http://schemas.microsoft.com/office/powerpoint/2010/main" val="20007200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FDC8B4F5-370F-4B53-B41A-7F3203AFD142}" type="slidenum">
              <a:rPr lang="en-US"/>
              <a:pPr>
                <a:defRPr/>
              </a:pPr>
              <a:t>‹#›</a:t>
            </a:fld>
            <a:endParaRPr lang="en-US" dirty="0"/>
          </a:p>
        </p:txBody>
      </p:sp>
    </p:spTree>
    <p:extLst>
      <p:ext uri="{BB962C8B-B14F-4D97-AF65-F5344CB8AC3E}">
        <p14:creationId xmlns:p14="http://schemas.microsoft.com/office/powerpoint/2010/main" val="34012980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3" name="Picture 2" descr="Shape, rectangle&#10;&#10;Description automatically generated">
            <a:extLst>
              <a:ext uri="{FF2B5EF4-FFF2-40B4-BE49-F238E27FC236}">
                <a16:creationId xmlns:a16="http://schemas.microsoft.com/office/drawing/2014/main" id="{90558495-3BC3-E3C0-AF92-968F0799556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23273"/>
            <a:ext cx="12192000" cy="6858000"/>
          </a:xfrm>
          <a:prstGeom prst="rect">
            <a:avLst/>
          </a:prstGeom>
        </p:spPr>
      </p:pic>
      <p:pic>
        <p:nvPicPr>
          <p:cNvPr id="4" name="Picture 3" descr="A red square with white dots&#10;&#10;Description automatically generated">
            <a:extLst>
              <a:ext uri="{FF2B5EF4-FFF2-40B4-BE49-F238E27FC236}">
                <a16:creationId xmlns:a16="http://schemas.microsoft.com/office/drawing/2014/main" id="{7FBA7789-B7FE-0B59-0FD9-2299A630233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1447800"/>
          </a:xfrm>
          <a:prstGeom prst="rect">
            <a:avLst/>
          </a:prstGeom>
        </p:spPr>
      </p:pic>
      <p:pic>
        <p:nvPicPr>
          <p:cNvPr id="7" name="Picture 6" descr="A red square with white dots&#10;&#10;Description automatically generated">
            <a:extLst>
              <a:ext uri="{FF2B5EF4-FFF2-40B4-BE49-F238E27FC236}">
                <a16:creationId xmlns:a16="http://schemas.microsoft.com/office/drawing/2014/main" id="{330ECBA5-A556-803D-0226-DD79BBAA57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33473"/>
            <a:ext cx="12192000" cy="1447800"/>
          </a:xfrm>
          <a:prstGeom prst="rect">
            <a:avLst/>
          </a:prstGeom>
        </p:spPr>
      </p:pic>
      <p:sp>
        <p:nvSpPr>
          <p:cNvPr id="2" name="Title 1"/>
          <p:cNvSpPr>
            <a:spLocks noGrp="1"/>
          </p:cNvSpPr>
          <p:nvPr>
            <p:ph type="title" hasCustomPrompt="1"/>
          </p:nvPr>
        </p:nvSpPr>
        <p:spPr>
          <a:xfrm>
            <a:off x="2743200" y="2667000"/>
            <a:ext cx="10020635" cy="1053850"/>
          </a:xfrm>
        </p:spPr>
        <p:txBody>
          <a:bodyPr anchor="b"/>
          <a:lstStyle>
            <a:lvl1pPr>
              <a:defRPr sz="4000" b="1" i="0">
                <a:solidFill>
                  <a:schemeClr val="bg1"/>
                </a:solidFill>
                <a:latin typeface="Arboria Bold" panose="02000000000000000000" pitchFamily="2" charset="77"/>
              </a:defRPr>
            </a:lvl1pPr>
          </a:lstStyle>
          <a:p>
            <a:r>
              <a:rPr lang="en-US" dirty="0"/>
              <a:t>CLICK TO EDIT TITLE</a:t>
            </a:r>
          </a:p>
        </p:txBody>
      </p:sp>
      <p:sp>
        <p:nvSpPr>
          <p:cNvPr id="6" name="Slide Number Placeholder 5"/>
          <p:cNvSpPr>
            <a:spLocks noGrp="1"/>
          </p:cNvSpPr>
          <p:nvPr>
            <p:ph type="sldNum" sz="quarter" idx="12"/>
          </p:nvPr>
        </p:nvSpPr>
        <p:spPr/>
        <p:txBody>
          <a:bodyPr/>
          <a:lstStyle/>
          <a:p>
            <a:fld id="{40D7EE0D-DF15-4744-81AA-973DFFDBC556}" type="slidenum">
              <a:rPr lang="en-US" smtClean="0"/>
              <a:t>‹#›</a:t>
            </a:fld>
            <a:endParaRPr lang="en-US"/>
          </a:p>
        </p:txBody>
      </p:sp>
    </p:spTree>
    <p:extLst>
      <p:ext uri="{BB962C8B-B14F-4D97-AF65-F5344CB8AC3E}">
        <p14:creationId xmlns:p14="http://schemas.microsoft.com/office/powerpoint/2010/main" val="22577598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 Id="rId14" Type="http://schemas.openxmlformats.org/officeDocument/2006/relationships/image" Target="../media/image7.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3" descr="A red border with a white background&#10;&#10;Description automatically generated">
            <a:extLst>
              <a:ext uri="{FF2B5EF4-FFF2-40B4-BE49-F238E27FC236}">
                <a16:creationId xmlns:a16="http://schemas.microsoft.com/office/drawing/2014/main" id="{2640CDCE-58EE-3327-7B81-B6A448C92024}"/>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26" name="Rectangle 2"/>
          <p:cNvSpPr>
            <a:spLocks noGrp="1" noChangeArrowheads="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New Roman" charset="0"/>
              </a:defRPr>
            </a:lvl1pPr>
          </a:lstStyle>
          <a:p>
            <a:pPr>
              <a:defRPr/>
            </a:pPr>
            <a:endParaRPr lang="en-US" dirty="0"/>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charset="0"/>
              </a:defRPr>
            </a:lvl1pPr>
          </a:lstStyle>
          <a:p>
            <a:pPr>
              <a:defRPr/>
            </a:pPr>
            <a:fld id="{DF952E74-9CA4-426A-BD85-B02EE540910D}" type="slidenum">
              <a:rPr lang="en-US"/>
              <a:pPr>
                <a:defRPr/>
              </a:pPr>
              <a:t>‹#›</a:t>
            </a:fld>
            <a:endParaRPr lang="en-US" dirty="0"/>
          </a:p>
        </p:txBody>
      </p:sp>
      <p:pic>
        <p:nvPicPr>
          <p:cNvPr id="3" name="Picture 2" descr="A black and white logo&#10;&#10;AI-generated content may be incorrect.">
            <a:extLst>
              <a:ext uri="{FF2B5EF4-FFF2-40B4-BE49-F238E27FC236}">
                <a16:creationId xmlns:a16="http://schemas.microsoft.com/office/drawing/2014/main" id="{FE7776BC-D36E-CE78-DCF6-834CD826F01C}"/>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609600" y="6126164"/>
            <a:ext cx="2514600" cy="631687"/>
          </a:xfrm>
          <a:prstGeom prst="rect">
            <a:avLst/>
          </a:prstGeom>
        </p:spPr>
      </p:pic>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880" r:id="rId12"/>
  </p:sldLayoutIdLst>
  <p:txStyles>
    <p:titleStyle>
      <a:lvl1pPr algn="l" rtl="0" eaLnBrk="0" fontAlgn="base" hangingPunct="0">
        <a:spcBef>
          <a:spcPct val="0"/>
        </a:spcBef>
        <a:spcAft>
          <a:spcPct val="0"/>
        </a:spcAft>
        <a:defRPr sz="4400" b="1" i="0">
          <a:solidFill>
            <a:srgbClr val="841617"/>
          </a:solidFill>
          <a:latin typeface="Arboria Bold" panose="02000000000000000000" pitchFamily="2" charset="77"/>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1800" b="0" i="0">
          <a:solidFill>
            <a:schemeClr val="tx1"/>
          </a:solidFill>
          <a:latin typeface="Arboria Book" panose="02000000000000000000" pitchFamily="2" charset="77"/>
          <a:ea typeface="+mn-ea"/>
          <a:cs typeface="+mn-cs"/>
        </a:defRPr>
      </a:lvl1pPr>
      <a:lvl2pPr marL="742950" indent="-285750" algn="l" rtl="0" eaLnBrk="0" fontAlgn="base" hangingPunct="0">
        <a:spcBef>
          <a:spcPct val="20000"/>
        </a:spcBef>
        <a:spcAft>
          <a:spcPct val="0"/>
        </a:spcAft>
        <a:buChar char="–"/>
        <a:defRPr sz="1800" b="0" i="0">
          <a:solidFill>
            <a:schemeClr val="tx1"/>
          </a:solidFill>
          <a:latin typeface="Arboria Book" panose="02000000000000000000" pitchFamily="2" charset="77"/>
        </a:defRPr>
      </a:lvl2pPr>
      <a:lvl3pPr marL="1143000" indent="-228600" algn="l" rtl="0" eaLnBrk="0" fontAlgn="base" hangingPunct="0">
        <a:spcBef>
          <a:spcPct val="20000"/>
        </a:spcBef>
        <a:spcAft>
          <a:spcPct val="0"/>
        </a:spcAft>
        <a:buChar char="•"/>
        <a:defRPr sz="1800" b="0" i="0">
          <a:solidFill>
            <a:schemeClr val="tx1"/>
          </a:solidFill>
          <a:latin typeface="Arboria Book" panose="02000000000000000000" pitchFamily="2" charset="77"/>
        </a:defRPr>
      </a:lvl3pPr>
      <a:lvl4pPr marL="1600200" indent="-228600" algn="l" rtl="0" eaLnBrk="0" fontAlgn="base" hangingPunct="0">
        <a:spcBef>
          <a:spcPct val="20000"/>
        </a:spcBef>
        <a:spcAft>
          <a:spcPct val="0"/>
        </a:spcAft>
        <a:buChar char="–"/>
        <a:defRPr sz="1800" b="0" i="0">
          <a:solidFill>
            <a:schemeClr val="tx1"/>
          </a:solidFill>
          <a:latin typeface="Arboria Book" panose="02000000000000000000" pitchFamily="2" charset="77"/>
        </a:defRPr>
      </a:lvl4pPr>
      <a:lvl5pPr marL="2057400" indent="-228600" algn="l" rtl="0" eaLnBrk="0" fontAlgn="base" hangingPunct="0">
        <a:spcBef>
          <a:spcPct val="20000"/>
        </a:spcBef>
        <a:spcAft>
          <a:spcPct val="0"/>
        </a:spcAft>
        <a:buChar char="»"/>
        <a:defRPr sz="1800" b="0" i="0">
          <a:solidFill>
            <a:schemeClr val="tx1"/>
          </a:solidFill>
          <a:latin typeface="Arboria Book" panose="02000000000000000000" pitchFamily="2" charset="77"/>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3" descr="A white rectangular object with hexagons&#10;&#10;Description automatically generated">
            <a:extLst>
              <a:ext uri="{FF2B5EF4-FFF2-40B4-BE49-F238E27FC236}">
                <a16:creationId xmlns:a16="http://schemas.microsoft.com/office/drawing/2014/main" id="{35B72904-04F5-FAFE-96A2-85F570FBD224}"/>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26" name="Rectangle 2"/>
          <p:cNvSpPr>
            <a:spLocks noGrp="1" noChangeArrowheads="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New Roman" charset="0"/>
              </a:defRPr>
            </a:lvl1pPr>
          </a:lstStyle>
          <a:p>
            <a:pPr>
              <a:defRPr/>
            </a:pPr>
            <a:endParaRPr lang="en-US" dirty="0"/>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charset="0"/>
              </a:defRPr>
            </a:lvl1pPr>
          </a:lstStyle>
          <a:p>
            <a:pPr>
              <a:defRPr/>
            </a:pPr>
            <a:fld id="{DF952E74-9CA4-426A-BD85-B02EE540910D}" type="slidenum">
              <a:rPr lang="en-US"/>
              <a:pPr>
                <a:defRPr/>
              </a:pPr>
              <a:t>‹#›</a:t>
            </a:fld>
            <a:endParaRPr lang="en-US" dirty="0"/>
          </a:p>
        </p:txBody>
      </p:sp>
      <p:pic>
        <p:nvPicPr>
          <p:cNvPr id="2" name="Picture 1" descr="A black and white logo&#10;&#10;AI-generated content may be incorrect.">
            <a:extLst>
              <a:ext uri="{FF2B5EF4-FFF2-40B4-BE49-F238E27FC236}">
                <a16:creationId xmlns:a16="http://schemas.microsoft.com/office/drawing/2014/main" id="{208B70B1-915C-99BF-9493-B5E10E144B95}"/>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609600" y="6126164"/>
            <a:ext cx="2514600" cy="631687"/>
          </a:xfrm>
          <a:prstGeom prst="rect">
            <a:avLst/>
          </a:prstGeom>
        </p:spPr>
      </p:pic>
    </p:spTree>
    <p:extLst>
      <p:ext uri="{BB962C8B-B14F-4D97-AF65-F5344CB8AC3E}">
        <p14:creationId xmlns:p14="http://schemas.microsoft.com/office/powerpoint/2010/main" val="2643336840"/>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 id="2147483879" r:id="rId12"/>
  </p:sldLayoutIdLst>
  <p:txStyles>
    <p:titleStyle>
      <a:lvl1pPr algn="l" rtl="0" eaLnBrk="0" fontAlgn="base" hangingPunct="0">
        <a:spcBef>
          <a:spcPct val="0"/>
        </a:spcBef>
        <a:spcAft>
          <a:spcPct val="0"/>
        </a:spcAft>
        <a:defRPr sz="4400" b="1" i="0">
          <a:solidFill>
            <a:srgbClr val="841617"/>
          </a:solidFill>
          <a:latin typeface="Arboria Bold" panose="02000000000000000000" pitchFamily="2" charset="77"/>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1800" b="0" i="0">
          <a:solidFill>
            <a:schemeClr val="tx1"/>
          </a:solidFill>
          <a:latin typeface="Arboria Book" panose="02000000000000000000" pitchFamily="2" charset="77"/>
          <a:ea typeface="+mn-ea"/>
          <a:cs typeface="+mn-cs"/>
        </a:defRPr>
      </a:lvl1pPr>
      <a:lvl2pPr marL="742950" indent="-285750" algn="l" rtl="0" eaLnBrk="0" fontAlgn="base" hangingPunct="0">
        <a:spcBef>
          <a:spcPct val="20000"/>
        </a:spcBef>
        <a:spcAft>
          <a:spcPct val="0"/>
        </a:spcAft>
        <a:buChar char="–"/>
        <a:defRPr sz="1800" b="0" i="0">
          <a:solidFill>
            <a:schemeClr val="tx1"/>
          </a:solidFill>
          <a:latin typeface="Arboria Book" panose="02000000000000000000" pitchFamily="2" charset="77"/>
        </a:defRPr>
      </a:lvl2pPr>
      <a:lvl3pPr marL="1143000" indent="-228600" algn="l" rtl="0" eaLnBrk="0" fontAlgn="base" hangingPunct="0">
        <a:spcBef>
          <a:spcPct val="20000"/>
        </a:spcBef>
        <a:spcAft>
          <a:spcPct val="0"/>
        </a:spcAft>
        <a:buChar char="•"/>
        <a:defRPr sz="1800" b="0" i="0">
          <a:solidFill>
            <a:schemeClr val="tx1"/>
          </a:solidFill>
          <a:latin typeface="Arboria Book" panose="02000000000000000000" pitchFamily="2" charset="77"/>
        </a:defRPr>
      </a:lvl3pPr>
      <a:lvl4pPr marL="1600200" indent="-228600" algn="l" rtl="0" eaLnBrk="0" fontAlgn="base" hangingPunct="0">
        <a:spcBef>
          <a:spcPct val="20000"/>
        </a:spcBef>
        <a:spcAft>
          <a:spcPct val="0"/>
        </a:spcAft>
        <a:buChar char="–"/>
        <a:defRPr sz="1800" b="0" i="0">
          <a:solidFill>
            <a:schemeClr val="tx1"/>
          </a:solidFill>
          <a:latin typeface="Arboria Book" panose="02000000000000000000" pitchFamily="2" charset="77"/>
        </a:defRPr>
      </a:lvl4pPr>
      <a:lvl5pPr marL="2057400" indent="-228600" algn="l" rtl="0" eaLnBrk="0" fontAlgn="base" hangingPunct="0">
        <a:spcBef>
          <a:spcPct val="20000"/>
        </a:spcBef>
        <a:spcAft>
          <a:spcPct val="0"/>
        </a:spcAft>
        <a:buChar char="»"/>
        <a:defRPr sz="1800" b="0" i="0">
          <a:solidFill>
            <a:schemeClr val="tx1"/>
          </a:solidFill>
          <a:latin typeface="Arboria Book" panose="02000000000000000000" pitchFamily="2" charset="77"/>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hyperlink" Target="https://pixabay.com/en/man-head-face-avatar-blue-generic-15769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1">
            <a:extLst>
              <a:ext uri="{FF2B5EF4-FFF2-40B4-BE49-F238E27FC236}">
                <a16:creationId xmlns:a16="http://schemas.microsoft.com/office/drawing/2014/main" id="{2AA30B41-ABAF-E9EC-4E43-BE89E2F3BFD9}"/>
              </a:ext>
            </a:extLst>
          </p:cNvPr>
          <p:cNvSpPr>
            <a:spLocks noGrp="1"/>
          </p:cNvSpPr>
          <p:nvPr>
            <p:ph type="subTitle" idx="1"/>
          </p:nvPr>
        </p:nvSpPr>
        <p:spPr>
          <a:xfrm>
            <a:off x="457200" y="2057400"/>
            <a:ext cx="8534400" cy="1752600"/>
          </a:xfrm>
        </p:spPr>
        <p:txBody>
          <a:bodyPr/>
          <a:lstStyle/>
          <a:p>
            <a:r>
              <a:rPr lang="en-US" sz="3200" dirty="0" err="1"/>
              <a:t>51</a:t>
            </a:r>
            <a:r>
              <a:rPr lang="en-US" sz="3200" baseline="30000" dirty="0" err="1"/>
              <a:t>ST</a:t>
            </a:r>
            <a:r>
              <a:rPr lang="en-US" sz="3200" dirty="0"/>
              <a:t> ANNUAL ORTHOPEDIC SURGERY</a:t>
            </a:r>
          </a:p>
        </p:txBody>
      </p:sp>
      <p:sp>
        <p:nvSpPr>
          <p:cNvPr id="7" name="Title 2">
            <a:extLst>
              <a:ext uri="{FF2B5EF4-FFF2-40B4-BE49-F238E27FC236}">
                <a16:creationId xmlns:a16="http://schemas.microsoft.com/office/drawing/2014/main" id="{FF1EB0E9-D660-0341-996F-76800B9C3680}"/>
              </a:ext>
            </a:extLst>
          </p:cNvPr>
          <p:cNvSpPr>
            <a:spLocks noGrp="1"/>
          </p:cNvSpPr>
          <p:nvPr>
            <p:ph type="ctrTitle"/>
          </p:nvPr>
        </p:nvSpPr>
        <p:spPr>
          <a:xfrm>
            <a:off x="457200" y="2503487"/>
            <a:ext cx="11277600" cy="1470025"/>
          </a:xfrm>
        </p:spPr>
        <p:txBody>
          <a:bodyPr/>
          <a:lstStyle/>
          <a:p>
            <a:r>
              <a:rPr lang="en-US" sz="10000" b="0" dirty="0"/>
              <a:t>VISTING PROFESSOR</a:t>
            </a:r>
          </a:p>
        </p:txBody>
      </p:sp>
    </p:spTree>
    <p:extLst>
      <p:ext uri="{BB962C8B-B14F-4D97-AF65-F5344CB8AC3E}">
        <p14:creationId xmlns:p14="http://schemas.microsoft.com/office/powerpoint/2010/main" val="1205774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6F42B-3ECA-B173-A81B-9F5BFAB582AE}"/>
              </a:ext>
            </a:extLst>
          </p:cNvPr>
          <p:cNvSpPr>
            <a:spLocks noGrp="1"/>
          </p:cNvSpPr>
          <p:nvPr>
            <p:ph type="title"/>
          </p:nvPr>
        </p:nvSpPr>
        <p:spPr/>
        <p:txBody>
          <a:bodyPr/>
          <a:lstStyle/>
          <a:p>
            <a:r>
              <a:rPr lang="en-US" dirty="0"/>
              <a:t>Session Title</a:t>
            </a:r>
          </a:p>
        </p:txBody>
      </p:sp>
      <p:sp>
        <p:nvSpPr>
          <p:cNvPr id="3" name="Content Placeholder 2">
            <a:extLst>
              <a:ext uri="{FF2B5EF4-FFF2-40B4-BE49-F238E27FC236}">
                <a16:creationId xmlns:a16="http://schemas.microsoft.com/office/drawing/2014/main" id="{B7C110D3-4AA0-F06F-233A-3B5EB21E5936}"/>
              </a:ext>
            </a:extLst>
          </p:cNvPr>
          <p:cNvSpPr>
            <a:spLocks noGrp="1"/>
          </p:cNvSpPr>
          <p:nvPr>
            <p:ph sz="half" idx="1"/>
          </p:nvPr>
        </p:nvSpPr>
        <p:spPr/>
        <p:txBody>
          <a:bodyPr/>
          <a:lstStyle/>
          <a:p>
            <a:pPr marL="0" indent="0">
              <a:buNone/>
            </a:pPr>
            <a:r>
              <a:rPr lang="en-US" sz="3200" b="1" dirty="0"/>
              <a:t>Speaker Name and Degrees</a:t>
            </a:r>
          </a:p>
          <a:p>
            <a:pPr marL="0" indent="0">
              <a:buNone/>
            </a:pPr>
            <a:r>
              <a:rPr lang="en-US" dirty="0"/>
              <a:t>Job Title</a:t>
            </a:r>
          </a:p>
          <a:p>
            <a:pPr marL="0" indent="0">
              <a:buNone/>
            </a:pPr>
            <a:r>
              <a:rPr lang="en-US" dirty="0"/>
              <a:t>Email: </a:t>
            </a:r>
          </a:p>
          <a:p>
            <a:pPr marL="0" indent="0">
              <a:buNone/>
            </a:pPr>
            <a:r>
              <a:rPr lang="en-US" dirty="0"/>
              <a:t>Office Phone</a:t>
            </a:r>
          </a:p>
        </p:txBody>
      </p:sp>
      <p:pic>
        <p:nvPicPr>
          <p:cNvPr id="6" name="Content Placeholder 5" descr="A blue silhouette of a person&#10;&#10;Description automatically generated">
            <a:extLst>
              <a:ext uri="{FF2B5EF4-FFF2-40B4-BE49-F238E27FC236}">
                <a16:creationId xmlns:a16="http://schemas.microsoft.com/office/drawing/2014/main" id="{79B51E8B-3F95-E652-CA8B-F4D7E3C87075}"/>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086600" y="1403350"/>
            <a:ext cx="3903643" cy="4525963"/>
          </a:xfrm>
        </p:spPr>
      </p:pic>
    </p:spTree>
    <p:extLst>
      <p:ext uri="{BB962C8B-B14F-4D97-AF65-F5344CB8AC3E}">
        <p14:creationId xmlns:p14="http://schemas.microsoft.com/office/powerpoint/2010/main" val="1583801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F6C92-DA4F-A009-E53C-4F618023F13E}"/>
              </a:ext>
            </a:extLst>
          </p:cNvPr>
          <p:cNvSpPr>
            <a:spLocks noGrp="1"/>
          </p:cNvSpPr>
          <p:nvPr>
            <p:ph type="title"/>
          </p:nvPr>
        </p:nvSpPr>
        <p:spPr/>
        <p:txBody>
          <a:bodyPr/>
          <a:lstStyle/>
          <a:p>
            <a:r>
              <a:rPr lang="en-US" dirty="0"/>
              <a:t>Disclosure of Financial Relationships</a:t>
            </a:r>
          </a:p>
        </p:txBody>
      </p:sp>
      <p:graphicFrame>
        <p:nvGraphicFramePr>
          <p:cNvPr id="5" name="Content Placeholder 4">
            <a:extLst>
              <a:ext uri="{FF2B5EF4-FFF2-40B4-BE49-F238E27FC236}">
                <a16:creationId xmlns:a16="http://schemas.microsoft.com/office/drawing/2014/main" id="{50B27DF8-4066-5492-5BF0-48A818A156A8}"/>
              </a:ext>
            </a:extLst>
          </p:cNvPr>
          <p:cNvGraphicFramePr>
            <a:graphicFrameLocks noGrp="1"/>
          </p:cNvGraphicFramePr>
          <p:nvPr>
            <p:ph idx="1"/>
          </p:nvPr>
        </p:nvGraphicFramePr>
        <p:xfrm>
          <a:off x="600075" y="2057400"/>
          <a:ext cx="10972800" cy="2743200"/>
        </p:xfrm>
        <a:graphic>
          <a:graphicData uri="http://schemas.openxmlformats.org/drawingml/2006/table">
            <a:tbl>
              <a:tblPr firstRow="1" bandRow="1">
                <a:tableStyleId>{1FECB4D8-DB02-4DC6-A0A2-4F2EBAE1DC90}</a:tableStyleId>
              </a:tblPr>
              <a:tblGrid>
                <a:gridCol w="5486400">
                  <a:extLst>
                    <a:ext uri="{9D8B030D-6E8A-4147-A177-3AD203B41FA5}">
                      <a16:colId xmlns:a16="http://schemas.microsoft.com/office/drawing/2014/main" val="1065288702"/>
                    </a:ext>
                  </a:extLst>
                </a:gridCol>
                <a:gridCol w="5486400">
                  <a:extLst>
                    <a:ext uri="{9D8B030D-6E8A-4147-A177-3AD203B41FA5}">
                      <a16:colId xmlns:a16="http://schemas.microsoft.com/office/drawing/2014/main" val="1054660859"/>
                    </a:ext>
                  </a:extLst>
                </a:gridCol>
              </a:tblGrid>
              <a:tr h="548640">
                <a:tc>
                  <a:txBody>
                    <a:bodyPr/>
                    <a:lstStyle/>
                    <a:p>
                      <a:r>
                        <a:rPr lang="en-US" dirty="0">
                          <a:solidFill>
                            <a:schemeClr val="tx1"/>
                          </a:solidFill>
                        </a:rPr>
                        <a:t>Ineligible Company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a:txBody>
                    <a:bodyPr/>
                    <a:lstStyle/>
                    <a:p>
                      <a:r>
                        <a:rPr lang="en-US" dirty="0">
                          <a:solidFill>
                            <a:schemeClr val="tx1"/>
                          </a:solidFill>
                        </a:rPr>
                        <a:t>Nature of Financial Relationship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898117"/>
                  </a:ext>
                </a:extLst>
              </a:tr>
              <a:tr h="548640">
                <a:tc>
                  <a:txBody>
                    <a:bodyPr/>
                    <a:lstStyle/>
                    <a:p>
                      <a:r>
                        <a:rPr lang="en-US" i="1" dirty="0"/>
                        <a:t>Example: Name of Ineligible Company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i="1" dirty="0"/>
                        <a:t>Example: Speaker Fee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52016453"/>
                  </a:ext>
                </a:extLst>
              </a:tr>
              <a:tr h="548640">
                <a:tc>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8124051"/>
                  </a:ext>
                </a:extLst>
              </a:tr>
              <a:tr h="54864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1736048"/>
                  </a:ext>
                </a:extLst>
              </a:tr>
              <a:tr h="54864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62813967"/>
                  </a:ext>
                </a:extLst>
              </a:tr>
            </a:tbl>
          </a:graphicData>
        </a:graphic>
      </p:graphicFrame>
      <p:sp>
        <p:nvSpPr>
          <p:cNvPr id="7" name="TextBox 6">
            <a:extLst>
              <a:ext uri="{FF2B5EF4-FFF2-40B4-BE49-F238E27FC236}">
                <a16:creationId xmlns:a16="http://schemas.microsoft.com/office/drawing/2014/main" id="{B4560221-BBF0-584B-17C0-66F752A2E9E5}"/>
              </a:ext>
            </a:extLst>
          </p:cNvPr>
          <p:cNvSpPr txBox="1"/>
          <p:nvPr/>
        </p:nvSpPr>
        <p:spPr>
          <a:xfrm>
            <a:off x="1004455" y="4953000"/>
            <a:ext cx="10183090" cy="923330"/>
          </a:xfrm>
          <a:prstGeom prst="rect">
            <a:avLst/>
          </a:prstGeom>
          <a:noFill/>
        </p:spPr>
        <p:txBody>
          <a:bodyPr wrap="square" rtlCol="0">
            <a:spAutoFit/>
          </a:bodyPr>
          <a:lstStyle/>
          <a:p>
            <a:pPr fontAlgn="auto">
              <a:spcBef>
                <a:spcPts val="0"/>
              </a:spcBef>
              <a:spcAft>
                <a:spcPts val="0"/>
              </a:spcAft>
            </a:pPr>
            <a:r>
              <a:rPr lang="en-US" sz="1800" b="1" dirty="0">
                <a:latin typeface="Calibri" panose="020F0502020204030204"/>
              </a:rPr>
              <a:t>NOTE TO PRESENTER: Use this slide if you have financial relationships with ineligible companies.  Slide must include the name of the company and the nature of the financial relationships (speakers bureau, consulting fees, honoraria, etc.) Otherwise, remove slide. (Delete this note for your final presentation.) </a:t>
            </a:r>
          </a:p>
        </p:txBody>
      </p:sp>
      <p:sp>
        <p:nvSpPr>
          <p:cNvPr id="8" name="TextBox 7">
            <a:extLst>
              <a:ext uri="{FF2B5EF4-FFF2-40B4-BE49-F238E27FC236}">
                <a16:creationId xmlns:a16="http://schemas.microsoft.com/office/drawing/2014/main" id="{7C6AC79E-2952-22A4-C5C1-47563AC9CC0E}"/>
              </a:ext>
            </a:extLst>
          </p:cNvPr>
          <p:cNvSpPr txBox="1"/>
          <p:nvPr/>
        </p:nvSpPr>
        <p:spPr>
          <a:xfrm>
            <a:off x="1790700" y="1283485"/>
            <a:ext cx="8610600" cy="954107"/>
          </a:xfrm>
          <a:prstGeom prst="rect">
            <a:avLst/>
          </a:prstGeom>
          <a:noFill/>
        </p:spPr>
        <p:txBody>
          <a:bodyPr wrap="square" rtlCol="0">
            <a:spAutoFit/>
          </a:bodyPr>
          <a:lstStyle/>
          <a:p>
            <a:pPr algn="ctr" fontAlgn="auto">
              <a:spcBef>
                <a:spcPts val="0"/>
              </a:spcBef>
              <a:spcAft>
                <a:spcPts val="0"/>
              </a:spcAft>
            </a:pPr>
            <a:r>
              <a:rPr lang="en-US" sz="3200" b="1" dirty="0">
                <a:solidFill>
                  <a:prstClr val="black"/>
                </a:solidFill>
                <a:latin typeface="Calibri" panose="020F0502020204030204" pitchFamily="34" charset="0"/>
                <a:cs typeface="Times New Roman" pitchFamily="18" charset="0"/>
              </a:rPr>
              <a:t>Name of Presenter</a:t>
            </a:r>
          </a:p>
          <a:p>
            <a:pPr fontAlgn="auto">
              <a:spcBef>
                <a:spcPts val="0"/>
              </a:spcBef>
              <a:spcAft>
                <a:spcPts val="0"/>
              </a:spcAft>
            </a:pPr>
            <a:endParaRPr lang="en-US" b="1" dirty="0">
              <a:solidFill>
                <a:prstClr val="black"/>
              </a:solidFill>
              <a:latin typeface="Calibri" panose="020F0502020204030204" pitchFamily="34" charset="0"/>
              <a:cs typeface="Times New Roman" pitchFamily="18" charset="0"/>
            </a:endParaRPr>
          </a:p>
        </p:txBody>
      </p:sp>
    </p:spTree>
    <p:extLst>
      <p:ext uri="{BB962C8B-B14F-4D97-AF65-F5344CB8AC3E}">
        <p14:creationId xmlns:p14="http://schemas.microsoft.com/office/powerpoint/2010/main" val="430220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F6C92-DA4F-A009-E53C-4F618023F13E}"/>
              </a:ext>
            </a:extLst>
          </p:cNvPr>
          <p:cNvSpPr>
            <a:spLocks noGrp="1"/>
          </p:cNvSpPr>
          <p:nvPr>
            <p:ph type="title"/>
          </p:nvPr>
        </p:nvSpPr>
        <p:spPr/>
        <p:txBody>
          <a:bodyPr/>
          <a:lstStyle/>
          <a:p>
            <a:r>
              <a:rPr lang="en-US" dirty="0"/>
              <a:t>Disclosure of Financial Relationships</a:t>
            </a:r>
          </a:p>
        </p:txBody>
      </p:sp>
      <p:grpSp>
        <p:nvGrpSpPr>
          <p:cNvPr id="12" name="Group 11">
            <a:extLst>
              <a:ext uri="{FF2B5EF4-FFF2-40B4-BE49-F238E27FC236}">
                <a16:creationId xmlns:a16="http://schemas.microsoft.com/office/drawing/2014/main" id="{CA78B916-7B18-AD13-63C4-D75012C1FA6F}"/>
              </a:ext>
            </a:extLst>
          </p:cNvPr>
          <p:cNvGrpSpPr/>
          <p:nvPr/>
        </p:nvGrpSpPr>
        <p:grpSpPr>
          <a:xfrm>
            <a:off x="1828800" y="1905984"/>
            <a:ext cx="8610600" cy="2248506"/>
            <a:chOff x="304800" y="1895328"/>
            <a:chExt cx="8610600" cy="2248506"/>
          </a:xfrm>
        </p:grpSpPr>
        <p:sp>
          <p:nvSpPr>
            <p:cNvPr id="13" name="TextBox 12">
              <a:extLst>
                <a:ext uri="{FF2B5EF4-FFF2-40B4-BE49-F238E27FC236}">
                  <a16:creationId xmlns:a16="http://schemas.microsoft.com/office/drawing/2014/main" id="{C3304A3F-96E2-D078-E78E-B5D98CAA359E}"/>
                </a:ext>
              </a:extLst>
            </p:cNvPr>
            <p:cNvSpPr txBox="1"/>
            <p:nvPr/>
          </p:nvSpPr>
          <p:spPr>
            <a:xfrm>
              <a:off x="304800" y="1895328"/>
              <a:ext cx="8610600" cy="954107"/>
            </a:xfrm>
            <a:prstGeom prst="rect">
              <a:avLst/>
            </a:prstGeom>
            <a:noFill/>
          </p:spPr>
          <p:txBody>
            <a:bodyPr wrap="square" rtlCol="0">
              <a:spAutoFit/>
            </a:bodyPr>
            <a:lstStyle/>
            <a:p>
              <a:pPr algn="ctr" fontAlgn="auto">
                <a:spcBef>
                  <a:spcPts val="0"/>
                </a:spcBef>
                <a:spcAft>
                  <a:spcPts val="0"/>
                </a:spcAft>
              </a:pPr>
              <a:r>
                <a:rPr lang="en-US" sz="3200" b="1" dirty="0">
                  <a:solidFill>
                    <a:prstClr val="black"/>
                  </a:solidFill>
                  <a:latin typeface="Calibri" panose="020F0502020204030204" pitchFamily="34" charset="0"/>
                  <a:cs typeface="Times New Roman" pitchFamily="18" charset="0"/>
                </a:rPr>
                <a:t>Name of Presenter</a:t>
              </a:r>
            </a:p>
            <a:p>
              <a:pPr fontAlgn="auto">
                <a:spcBef>
                  <a:spcPts val="0"/>
                </a:spcBef>
                <a:spcAft>
                  <a:spcPts val="0"/>
                </a:spcAft>
              </a:pPr>
              <a:endParaRPr lang="en-US" b="1" dirty="0">
                <a:solidFill>
                  <a:prstClr val="black"/>
                </a:solidFill>
                <a:latin typeface="Calibri" panose="020F0502020204030204" pitchFamily="34" charset="0"/>
                <a:cs typeface="Times New Roman" pitchFamily="18" charset="0"/>
              </a:endParaRPr>
            </a:p>
          </p:txBody>
        </p:sp>
        <p:sp>
          <p:nvSpPr>
            <p:cNvPr id="14" name="TextBox 13">
              <a:extLst>
                <a:ext uri="{FF2B5EF4-FFF2-40B4-BE49-F238E27FC236}">
                  <a16:creationId xmlns:a16="http://schemas.microsoft.com/office/drawing/2014/main" id="{A14D08D5-3DBC-9510-0670-02B3EEE18B97}"/>
                </a:ext>
              </a:extLst>
            </p:cNvPr>
            <p:cNvSpPr txBox="1"/>
            <p:nvPr/>
          </p:nvSpPr>
          <p:spPr>
            <a:xfrm>
              <a:off x="304800" y="2574174"/>
              <a:ext cx="8610600" cy="1569660"/>
            </a:xfrm>
            <a:prstGeom prst="rect">
              <a:avLst/>
            </a:prstGeom>
            <a:noFill/>
          </p:spPr>
          <p:txBody>
            <a:bodyPr wrap="square" rtlCol="0">
              <a:spAutoFit/>
            </a:bodyPr>
            <a:lstStyle/>
            <a:p>
              <a:pPr algn="ctr" fontAlgn="auto">
                <a:spcBef>
                  <a:spcPts val="0"/>
                </a:spcBef>
                <a:spcAft>
                  <a:spcPts val="0"/>
                </a:spcAft>
              </a:pPr>
              <a:endParaRPr lang="en-US" b="1" dirty="0">
                <a:solidFill>
                  <a:prstClr val="black"/>
                </a:solidFill>
                <a:latin typeface="Calibri" panose="020F0502020204030204" pitchFamily="34" charset="0"/>
                <a:cs typeface="Times New Roman" pitchFamily="18" charset="0"/>
              </a:endParaRPr>
            </a:p>
            <a:p>
              <a:pPr algn="ctr" fontAlgn="auto">
                <a:spcBef>
                  <a:spcPts val="0"/>
                </a:spcBef>
                <a:spcAft>
                  <a:spcPts val="0"/>
                </a:spcAft>
              </a:pPr>
              <a:r>
                <a:rPr lang="en-US" dirty="0">
                  <a:solidFill>
                    <a:prstClr val="black"/>
                  </a:solidFill>
                  <a:latin typeface="Calibri" panose="020F0502020204030204" pitchFamily="34" charset="0"/>
                  <a:cs typeface="Times New Roman" pitchFamily="18" charset="0"/>
                </a:rPr>
                <a:t>I have no financial relationships or affiliations with ineligible companies to disclose.</a:t>
              </a:r>
            </a:p>
            <a:p>
              <a:pPr algn="ctr" fontAlgn="auto">
                <a:spcBef>
                  <a:spcPts val="0"/>
                </a:spcBef>
                <a:spcAft>
                  <a:spcPts val="0"/>
                </a:spcAft>
              </a:pPr>
              <a:endParaRPr lang="en-US" dirty="0">
                <a:solidFill>
                  <a:prstClr val="black"/>
                </a:solidFill>
                <a:latin typeface="Calibri" panose="020F0502020204030204" pitchFamily="34" charset="0"/>
                <a:cs typeface="Times New Roman" pitchFamily="18" charset="0"/>
              </a:endParaRPr>
            </a:p>
          </p:txBody>
        </p:sp>
      </p:grpSp>
      <p:sp>
        <p:nvSpPr>
          <p:cNvPr id="15" name="TextBox 14">
            <a:extLst>
              <a:ext uri="{FF2B5EF4-FFF2-40B4-BE49-F238E27FC236}">
                <a16:creationId xmlns:a16="http://schemas.microsoft.com/office/drawing/2014/main" id="{F1B84C64-3F27-5654-E3AB-46362CEA19D2}"/>
              </a:ext>
            </a:extLst>
          </p:cNvPr>
          <p:cNvSpPr txBox="1"/>
          <p:nvPr/>
        </p:nvSpPr>
        <p:spPr>
          <a:xfrm>
            <a:off x="897775" y="5145579"/>
            <a:ext cx="10183090" cy="646331"/>
          </a:xfrm>
          <a:prstGeom prst="rect">
            <a:avLst/>
          </a:prstGeom>
          <a:noFill/>
        </p:spPr>
        <p:txBody>
          <a:bodyPr wrap="square" rtlCol="0">
            <a:spAutoFit/>
          </a:bodyPr>
          <a:lstStyle/>
          <a:p>
            <a:pPr fontAlgn="auto">
              <a:spcBef>
                <a:spcPts val="0"/>
              </a:spcBef>
              <a:spcAft>
                <a:spcPts val="0"/>
              </a:spcAft>
            </a:pPr>
            <a:r>
              <a:rPr lang="en-US" sz="1800" b="1" dirty="0">
                <a:latin typeface="Calibri" panose="020F0502020204030204"/>
              </a:rPr>
              <a:t>NOTE TO PRESENTER: Use this slide if you DO NOT have financial relationships with ineligible companies.  Otherwise remove slide. (Delete this note for your final presentation.) </a:t>
            </a:r>
          </a:p>
        </p:txBody>
      </p:sp>
    </p:spTree>
    <p:extLst>
      <p:ext uri="{BB962C8B-B14F-4D97-AF65-F5344CB8AC3E}">
        <p14:creationId xmlns:p14="http://schemas.microsoft.com/office/powerpoint/2010/main" val="2655288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560018-B6C8-936C-B91E-0C30AF06DEDA}"/>
              </a:ext>
            </a:extLst>
          </p:cNvPr>
          <p:cNvSpPr>
            <a:spLocks noGrp="1"/>
          </p:cNvSpPr>
          <p:nvPr>
            <p:ph type="title"/>
          </p:nvPr>
        </p:nvSpPr>
        <p:spPr/>
        <p:txBody>
          <a:bodyPr/>
          <a:lstStyle/>
          <a:p>
            <a:r>
              <a:rPr lang="en-US" dirty="0"/>
              <a:t>Experimental of Off-Label</a:t>
            </a:r>
            <a:br>
              <a:rPr lang="en-US" dirty="0"/>
            </a:br>
            <a:r>
              <a:rPr lang="en-US" dirty="0"/>
              <a:t>Drugs/Devices/Therapies Disclosure </a:t>
            </a:r>
          </a:p>
        </p:txBody>
      </p:sp>
      <p:sp>
        <p:nvSpPr>
          <p:cNvPr id="8" name="TextBox 7">
            <a:extLst>
              <a:ext uri="{FF2B5EF4-FFF2-40B4-BE49-F238E27FC236}">
                <a16:creationId xmlns:a16="http://schemas.microsoft.com/office/drawing/2014/main" id="{9E7D7687-A183-0843-6B91-6ED86BF7BA93}"/>
              </a:ext>
            </a:extLst>
          </p:cNvPr>
          <p:cNvSpPr txBox="1"/>
          <p:nvPr/>
        </p:nvSpPr>
        <p:spPr>
          <a:xfrm>
            <a:off x="1790700" y="1835527"/>
            <a:ext cx="8610600" cy="1569660"/>
          </a:xfrm>
          <a:prstGeom prst="rect">
            <a:avLst/>
          </a:prstGeom>
          <a:noFill/>
        </p:spPr>
        <p:txBody>
          <a:bodyPr wrap="square" rtlCol="0">
            <a:spAutoFit/>
          </a:bodyPr>
          <a:lstStyle/>
          <a:p>
            <a:pPr algn="ctr" fontAlgn="auto">
              <a:spcBef>
                <a:spcPts val="0"/>
              </a:spcBef>
              <a:spcAft>
                <a:spcPts val="0"/>
              </a:spcAft>
            </a:pPr>
            <a:endParaRPr lang="en-US" b="1" dirty="0">
              <a:solidFill>
                <a:prstClr val="black"/>
              </a:solidFill>
              <a:latin typeface="Calibri" panose="020F0502020204030204" pitchFamily="34" charset="0"/>
              <a:cs typeface="Times New Roman" pitchFamily="18" charset="0"/>
            </a:endParaRPr>
          </a:p>
          <a:p>
            <a:pPr algn="ctr" fontAlgn="auto">
              <a:spcBef>
                <a:spcPts val="0"/>
              </a:spcBef>
              <a:spcAft>
                <a:spcPts val="0"/>
              </a:spcAft>
            </a:pPr>
            <a:r>
              <a:rPr lang="en-US" dirty="0">
                <a:solidFill>
                  <a:prstClr val="black"/>
                </a:solidFill>
                <a:latin typeface="Calibri" panose="020F0502020204030204" pitchFamily="34" charset="0"/>
                <a:cs typeface="Times New Roman" pitchFamily="18" charset="0"/>
              </a:rPr>
              <a:t>I will be discussing experimental or off-label drugs, devices and/or therapies that have not been approved by the FDA.</a:t>
            </a:r>
          </a:p>
          <a:p>
            <a:pPr algn="ctr" fontAlgn="auto">
              <a:spcBef>
                <a:spcPts val="0"/>
              </a:spcBef>
              <a:spcAft>
                <a:spcPts val="0"/>
              </a:spcAft>
            </a:pPr>
            <a:endParaRPr lang="en-US" dirty="0">
              <a:solidFill>
                <a:prstClr val="black"/>
              </a:solidFill>
              <a:latin typeface="Calibri" panose="020F0502020204030204" pitchFamily="34" charset="0"/>
              <a:cs typeface="Times New Roman" pitchFamily="18" charset="0"/>
            </a:endParaRPr>
          </a:p>
        </p:txBody>
      </p:sp>
      <p:sp>
        <p:nvSpPr>
          <p:cNvPr id="9" name="TextBox 8">
            <a:extLst>
              <a:ext uri="{FF2B5EF4-FFF2-40B4-BE49-F238E27FC236}">
                <a16:creationId xmlns:a16="http://schemas.microsoft.com/office/drawing/2014/main" id="{7C28DB62-2B77-927B-6863-F616539AD437}"/>
              </a:ext>
            </a:extLst>
          </p:cNvPr>
          <p:cNvSpPr txBox="1"/>
          <p:nvPr/>
        </p:nvSpPr>
        <p:spPr>
          <a:xfrm>
            <a:off x="1004455" y="5105400"/>
            <a:ext cx="10183090" cy="646331"/>
          </a:xfrm>
          <a:prstGeom prst="rect">
            <a:avLst/>
          </a:prstGeom>
          <a:noFill/>
        </p:spPr>
        <p:txBody>
          <a:bodyPr wrap="square" rtlCol="0">
            <a:spAutoFit/>
          </a:bodyPr>
          <a:lstStyle/>
          <a:p>
            <a:pPr fontAlgn="auto">
              <a:spcBef>
                <a:spcPts val="0"/>
              </a:spcBef>
              <a:spcAft>
                <a:spcPts val="0"/>
              </a:spcAft>
            </a:pPr>
            <a:r>
              <a:rPr lang="en-US" sz="1800" b="1" dirty="0">
                <a:latin typeface="Calibri" panose="020F0502020204030204"/>
              </a:rPr>
              <a:t>NOTE TO PRESENTER: Use this slide ONLY if you will be discussing experimental or off-label drugs. Otherwise remove slide. (Delete this note for your final presentation.) </a:t>
            </a:r>
          </a:p>
        </p:txBody>
      </p:sp>
    </p:spTree>
    <p:extLst>
      <p:ext uri="{BB962C8B-B14F-4D97-AF65-F5344CB8AC3E}">
        <p14:creationId xmlns:p14="http://schemas.microsoft.com/office/powerpoint/2010/main" val="3846977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EBE2CD-8DB1-A46F-64D4-BC5EB25F9362}"/>
              </a:ext>
            </a:extLst>
          </p:cNvPr>
          <p:cNvSpPr>
            <a:spLocks noGrp="1"/>
          </p:cNvSpPr>
          <p:nvPr>
            <p:ph type="title"/>
          </p:nvPr>
        </p:nvSpPr>
        <p:spPr/>
        <p:txBody>
          <a:bodyPr/>
          <a:lstStyle/>
          <a:p>
            <a:r>
              <a:rPr lang="en-US" dirty="0"/>
              <a:t>Learning Objectives</a:t>
            </a:r>
          </a:p>
        </p:txBody>
      </p:sp>
      <p:sp>
        <p:nvSpPr>
          <p:cNvPr id="5" name="Content Placeholder 4">
            <a:extLst>
              <a:ext uri="{FF2B5EF4-FFF2-40B4-BE49-F238E27FC236}">
                <a16:creationId xmlns:a16="http://schemas.microsoft.com/office/drawing/2014/main" id="{C19401E1-F8E6-3A2E-AB1D-AE94235C8145}"/>
              </a:ext>
            </a:extLst>
          </p:cNvPr>
          <p:cNvSpPr>
            <a:spLocks noGrp="1"/>
          </p:cNvSpPr>
          <p:nvPr>
            <p:ph idx="1"/>
          </p:nvPr>
        </p:nvSpPr>
        <p:spPr/>
        <p:txBody>
          <a:bodyPr/>
          <a:lstStyle/>
          <a:p>
            <a:pPr marL="0" indent="0">
              <a:buNone/>
            </a:pPr>
            <a:r>
              <a:rPr lang="en-US" sz="2800" dirty="0"/>
              <a:t>Upon completion of this session, participants will improve their competence and performance by being able to: </a:t>
            </a:r>
          </a:p>
          <a:p>
            <a:pPr>
              <a:buFont typeface="+mj-lt"/>
              <a:buAutoNum type="arabicPeriod"/>
            </a:pPr>
            <a:r>
              <a:rPr lang="en-US" sz="2800" dirty="0"/>
              <a:t>.</a:t>
            </a:r>
          </a:p>
          <a:p>
            <a:pPr>
              <a:buFont typeface="+mj-lt"/>
              <a:buAutoNum type="arabicPeriod"/>
            </a:pPr>
            <a:r>
              <a:rPr lang="en-US" sz="2800" dirty="0"/>
              <a:t>.</a:t>
            </a:r>
          </a:p>
          <a:p>
            <a:pPr>
              <a:buFont typeface="+mj-lt"/>
              <a:buAutoNum type="arabicPeriod"/>
            </a:pPr>
            <a:r>
              <a:rPr lang="en-US" sz="2800" dirty="0"/>
              <a:t>.</a:t>
            </a:r>
          </a:p>
          <a:p>
            <a:pPr>
              <a:buFont typeface="+mj-lt"/>
              <a:buAutoNum type="arabicPeriod"/>
            </a:pPr>
            <a:r>
              <a:rPr lang="en-US" sz="2800" dirty="0"/>
              <a:t>.</a:t>
            </a:r>
          </a:p>
          <a:p>
            <a:pPr>
              <a:buFont typeface="+mj-lt"/>
              <a:buAutoNum type="arabicPeriod"/>
            </a:pPr>
            <a:r>
              <a:rPr lang="en-US" sz="2800" dirty="0"/>
              <a:t>.</a:t>
            </a:r>
          </a:p>
          <a:p>
            <a:pPr>
              <a:buFont typeface="+mj-lt"/>
              <a:buAutoNum type="arabicPeriod"/>
            </a:pPr>
            <a:endParaRPr lang="en-US" sz="2800" dirty="0"/>
          </a:p>
        </p:txBody>
      </p:sp>
    </p:spTree>
    <p:extLst>
      <p:ext uri="{BB962C8B-B14F-4D97-AF65-F5344CB8AC3E}">
        <p14:creationId xmlns:p14="http://schemas.microsoft.com/office/powerpoint/2010/main" val="2840770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E72E-24DA-6E02-BBB2-DDC808324661}"/>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EE720188-247C-0E64-D2AB-6EF44E12949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88065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29DE9-C31D-9193-0F2E-405FF4C4B1E5}"/>
              </a:ext>
            </a:extLst>
          </p:cNvPr>
          <p:cNvSpPr>
            <a:spLocks noGrp="1"/>
          </p:cNvSpPr>
          <p:nvPr>
            <p:ph type="title"/>
          </p:nvPr>
        </p:nvSpPr>
        <p:spPr/>
        <p:txBody>
          <a:bodyPr/>
          <a:lstStyle/>
          <a:p>
            <a:r>
              <a:rPr lang="en-US" dirty="0"/>
              <a:t>Additional Resources</a:t>
            </a:r>
          </a:p>
        </p:txBody>
      </p:sp>
      <p:sp>
        <p:nvSpPr>
          <p:cNvPr id="3" name="Content Placeholder 2">
            <a:extLst>
              <a:ext uri="{FF2B5EF4-FFF2-40B4-BE49-F238E27FC236}">
                <a16:creationId xmlns:a16="http://schemas.microsoft.com/office/drawing/2014/main" id="{C9A50338-9615-7D29-D791-AF2C330289A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9774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82444-EBB0-15E2-48C4-36E09A9B9EC3}"/>
              </a:ext>
            </a:extLst>
          </p:cNvPr>
          <p:cNvSpPr>
            <a:spLocks noGrp="1"/>
          </p:cNvSpPr>
          <p:nvPr>
            <p:ph type="title"/>
          </p:nvPr>
        </p:nvSpPr>
        <p:spPr>
          <a:xfrm>
            <a:off x="2895600" y="2743200"/>
            <a:ext cx="9868235" cy="1053850"/>
          </a:xfrm>
        </p:spPr>
        <p:txBody>
          <a:bodyPr/>
          <a:lstStyle/>
          <a:p>
            <a:r>
              <a:rPr lang="en-US" dirty="0"/>
              <a:t>QUESTIONS?</a:t>
            </a:r>
          </a:p>
        </p:txBody>
      </p:sp>
    </p:spTree>
    <p:extLst>
      <p:ext uri="{BB962C8B-B14F-4D97-AF65-F5344CB8AC3E}">
        <p14:creationId xmlns:p14="http://schemas.microsoft.com/office/powerpoint/2010/main" val="3482868449"/>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 We Can't Fully Answer</a:t>
            </a:r>
          </a:p>
        </p:txBody>
      </p:sp>
      <p:sp>
        <p:nvSpPr>
          <p:cNvPr id="3" name="Content Placeholder 2"/>
          <p:cNvSpPr>
            <a:spLocks noGrp="1"/>
          </p:cNvSpPr>
          <p:nvPr>
            <p:ph idx="1"/>
          </p:nvPr>
        </p:nvSpPr>
        <p:spPr/>
        <p:txBody>
          <a:bodyPr/>
          <a:lstStyle/>
          <a:p>
            <a:pPr>
              <a:spcAft>
                <a:spcPts val="600"/>
              </a:spcAft>
              <a:defRPr sz="1600"/>
            </a:pPr>
            <a:r>
              <a:t>Why do some patients develop cuff tears while others with the same age and activity level don't?</a:t>
            </a:r>
          </a:p>
          <a:p>
            <a:pPr>
              <a:spcAft>
                <a:spcPts val="600"/>
              </a:spcAft>
              <a:defRPr sz="1600"/>
            </a:pPr>
            <a:r>
              <a:t>Why does a repaired cuff retear in one patient but heal in another?</a:t>
            </a:r>
          </a:p>
          <a:p>
            <a:pPr>
              <a:spcAft>
                <a:spcPts val="600"/>
              </a:spcAft>
              <a:defRPr sz="1600"/>
            </a:pPr>
            <a:r>
              <a:t>Why do some shoulders develop posterior glenoid erosion (Walch B-type) while most don't?</a:t>
            </a:r>
          </a:p>
          <a:p>
            <a:pPr>
              <a:spcAft>
                <a:spcPts val="600"/>
              </a:spcAft>
              <a:defRPr sz="1600"/>
            </a:pPr>
            <a:r>
              <a:t>Why does scapular dyskinesis persist after successful cuff repair?</a:t>
            </a:r>
          </a:p>
          <a:p>
            <a:pPr>
              <a:spcAft>
                <a:spcPts val="600"/>
              </a:spcAft>
              <a:defRPr sz="1600"/>
            </a:pPr>
            <a:r>
              <a:t>Why do some rTSA patients achieve full elevation while others plateau with the same implant?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Scapula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Scapula Actually Is</a:t>
            </a:r>
          </a:p>
        </p:txBody>
      </p:sp>
      <p:sp>
        <p:nvSpPr>
          <p:cNvPr id="3" name="Text Placeholder 2"/>
          <p:cNvSpPr>
            <a:spLocks noGrp="1"/>
          </p:cNvSpPr>
          <p:nvPr>
            <p:ph type="body" idx="1"/>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Design Problem</a:t>
            </a:r>
          </a:p>
        </p:txBody>
      </p:sp>
      <p:sp>
        <p:nvSpPr>
          <p:cNvPr id="3" name="Content Placeholder 2"/>
          <p:cNvSpPr>
            <a:spLocks noGrp="1"/>
          </p:cNvSpPr>
          <p:nvPr>
            <p:ph idx="1"/>
          </p:nvPr>
        </p:nvSpPr>
        <p:spPr/>
        <p:txBody>
          <a:bodyPr/>
          <a:lstStyle/>
          <a:p>
            <a:pPr>
              <a:spcAft>
                <a:spcPts val="600"/>
              </a:spcAft>
              <a:defRPr sz="1600"/>
            </a:pPr>
            <a:r>
              <a:t>No bony articulation to the axial skeleton</a:t>
            </a:r>
          </a:p>
          <a:p>
            <a:pPr>
              <a:spcAft>
                <a:spcPts val="600"/>
              </a:spcAft>
              <a:defRPr sz="1600"/>
            </a:pPr>
            <a:r>
              <a:t>No capsule, no ligaments connecting scapula to thorax</a:t>
            </a:r>
          </a:p>
          <a:p>
            <a:pPr>
              <a:spcAft>
                <a:spcPts val="600"/>
              </a:spcAft>
              <a:defRPr sz="1600"/>
            </a:pPr>
            <a:r>
              <a:t>A bone floating entirely within a network of muscle and fascia</a:t>
            </a:r>
          </a:p>
          <a:p>
            <a:pPr>
              <a:spcAft>
                <a:spcPts val="600"/>
              </a:spcAft>
              <a:defRPr sz="1600"/>
            </a:pPr>
            <a:r>
              <a:t>Position determined by the balance of tension forces acting on it</a:t>
            </a:r>
          </a:p>
          <a:p>
            <a:pPr>
              <a:spcAft>
                <a:spcPts val="600"/>
              </a:spcAft>
              <a:defRPr sz="1600"/>
            </a:pPr>
            <a:r>
              <a:t>Change any tension — weakness, tightness, fatigue, neural inhibition — and the scapula shifts to a new equilibrium</a:t>
            </a:r>
          </a:p>
          <a:p>
            <a:pPr>
              <a:spcAft>
                <a:spcPts val="600"/>
              </a:spcAft>
              <a:defRPr sz="1600"/>
            </a:pPr>
            <a:r>
              <a:t>This makes it both remarkably adaptable and remarkably vulnerable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Numbers That Made Me Pay Attention</a:t>
            </a:r>
          </a:p>
        </p:txBody>
      </p:sp>
      <p:sp>
        <p:nvSpPr>
          <p:cNvPr id="3" name="Content Placeholder 2"/>
          <p:cNvSpPr>
            <a:spLocks noGrp="1"/>
          </p:cNvSpPr>
          <p:nvPr>
            <p:ph idx="1"/>
          </p:nvPr>
        </p:nvSpPr>
        <p:spPr/>
        <p:txBody>
          <a:bodyPr/>
          <a:lstStyle/>
          <a:p>
            <a:pPr>
              <a:spcAft>
                <a:spcPts val="600"/>
              </a:spcAft>
              <a:defRPr sz="1600"/>
            </a:pPr>
            <a:r>
              <a:t>Subacromial space at 90°: 4.1mm healthy → 1.4mm in impingement (Borstad 2005)</a:t>
            </a:r>
          </a:p>
          <a:p>
            <a:pPr>
              <a:spcAft>
                <a:spcPts val="600"/>
              </a:spcAft>
              <a:defRPr sz="1600"/>
            </a:pPr>
            <a:r>
              <a:t>Slouching alone: −23.6° abduction, −16.2% muscle force (Kebaetse 1999)</a:t>
            </a:r>
          </a:p>
          <a:p>
            <a:pPr>
              <a:spcAft>
                <a:spcPts val="600"/>
              </a:spcAft>
              <a:defRPr sz="1600"/>
            </a:pPr>
            <a:r>
              <a:t>51% of kinetic energy in a tennis serve from legs/trunk — all through the ST joint (Kibler 1998)</a:t>
            </a:r>
          </a:p>
          <a:p>
            <a:pPr>
              <a:spcAft>
                <a:spcPts val="600"/>
              </a:spcAft>
              <a:defRPr sz="1600"/>
            </a:pPr>
            <a:r>
              <a:t>Scapula contributes ~60° of 180° arm elevation; SHR 1.7:1 (McClure 2001, bone pin study)</a:t>
            </a:r>
          </a:p>
          <a:p>
            <a:pPr>
              <a:spcAft>
                <a:spcPts val="600"/>
              </a:spcAft>
              <a:defRPr sz="1600"/>
            </a:pPr>
          </a:p>
          <a:p>
            <a:pPr>
              <a:spcAft>
                <a:spcPts val="600"/>
              </a:spcAft>
              <a:defRPr sz="1600"/>
            </a:pPr>
            <a:r>
              <a:t>The margin between healthy and pathologic is measured in millimeters.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Evolutionary Context</a:t>
            </a:r>
          </a:p>
        </p:txBody>
      </p:sp>
      <p:sp>
        <p:nvSpPr>
          <p:cNvPr id="3" name="Content Placeholder 2"/>
          <p:cNvSpPr>
            <a:spLocks noGrp="1"/>
          </p:cNvSpPr>
          <p:nvPr>
            <p:ph idx="1"/>
          </p:nvPr>
        </p:nvSpPr>
        <p:spPr/>
        <p:txBody>
          <a:bodyPr/>
          <a:lstStyle/>
          <a:p>
            <a:pPr>
              <a:spcAft>
                <a:spcPts val="600"/>
              </a:spcAft>
              <a:defRPr sz="1600"/>
            </a:pPr>
            <a:r>
              <a:t>Humans are the only species that can throw with speed and accuracy (Kuhn 2016)</a:t>
            </a:r>
          </a:p>
          <a:p>
            <a:pPr>
              <a:spcAft>
                <a:spcPts val="600"/>
              </a:spcAft>
              <a:defRPr sz="1600"/>
            </a:pPr>
            <a:r>
              <a:t>GH cartilage optimized for load distribution at ~90° abduction — the throwing position, not rest</a:t>
            </a:r>
          </a:p>
          <a:p>
            <a:pPr>
              <a:spcAft>
                <a:spcPts val="600"/>
              </a:spcAft>
              <a:defRPr sz="1600"/>
            </a:pPr>
            <a:r>
              <a:t>Scapula migrated from lateral thorax (quadrupeds) to posterior thorax (bipeds) (Selby 2017)</a:t>
            </a:r>
          </a:p>
          <a:p>
            <a:pPr>
              <a:spcAft>
                <a:spcPts val="600"/>
              </a:spcAft>
              <a:defRPr sz="1600"/>
            </a:pPr>
            <a:r>
              <a:t>Trading bony stability for muscular suspension</a:t>
            </a:r>
          </a:p>
          <a:p>
            <a:pPr>
              <a:spcAft>
                <a:spcPts val="600"/>
              </a:spcAft>
              <a:defRPr sz="1600"/>
            </a:pPr>
            <a:r>
              <a:t>Same adaptations that enabled throwing created vulnerability to cuff disease</a:t>
            </a:r>
          </a:p>
          <a:p>
            <a:pPr>
              <a:spcAft>
                <a:spcPts val="600"/>
              </a:spcAft>
              <a:defRPr sz="1600"/>
            </a:pPr>
          </a:p>
          <a:p>
            <a:pPr>
              <a:spcAft>
                <a:spcPts val="600"/>
              </a:spcAft>
              <a:defRPr sz="1600"/>
            </a:pPr>
            <a:r>
              <a:t>Designed for intermittent high performance. Not decades of sustained loading.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Clinical Application: The Scapular Assistance Test</a:t>
            </a:r>
          </a:p>
        </p:txBody>
      </p:sp>
      <p:sp>
        <p:nvSpPr>
          <p:cNvPr id="3" name="Content Placeholder 2"/>
          <p:cNvSpPr>
            <a:spLocks noGrp="1"/>
          </p:cNvSpPr>
          <p:nvPr>
            <p:ph idx="1"/>
          </p:nvPr>
        </p:nvSpPr>
        <p:spPr/>
        <p:txBody>
          <a:bodyPr/>
          <a:lstStyle/>
          <a:p>
            <a:pPr>
              <a:spcAft>
                <a:spcPts val="600"/>
              </a:spcAft>
              <a:defRPr sz="1600"/>
            </a:pPr>
            <a:r>
              <a:t>Manually reposition the scapula into posterior tilt and upward rotation</a:t>
            </a:r>
          </a:p>
          <a:p>
            <a:pPr>
              <a:spcAft>
                <a:spcPts val="600"/>
              </a:spcAft>
              <a:defRPr sz="1600"/>
            </a:pPr>
            <a:r>
              <a:t>If this reduces pain or increases ROM, the scapula is contributing</a:t>
            </a:r>
          </a:p>
          <a:p>
            <a:pPr>
              <a:spcAft>
                <a:spcPts val="600"/>
              </a:spcAft>
              <a:defRPr sz="1600"/>
            </a:pPr>
            <a:r>
              <a:t>Seitz 2012 (JOSPT): SAT changes scapular position and subacromial space</a:t>
            </a:r>
          </a:p>
          <a:p>
            <a:pPr>
              <a:spcAft>
                <a:spcPts val="600"/>
              </a:spcAft>
              <a:defRPr sz="1600"/>
            </a:pPr>
          </a:p>
          <a:p>
            <a:pPr>
              <a:spcAft>
                <a:spcPts val="600"/>
              </a:spcAft>
              <a:defRPr sz="1600"/>
            </a:pPr>
            <a:r>
              <a:t>Takes 10 seconds. Do it on every shoulder patient.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Shape Predicts Pathology</a:t>
            </a:r>
          </a:p>
        </p:txBody>
      </p:sp>
      <p:sp>
        <p:nvSpPr>
          <p:cNvPr id="3" name="Text Placeholder 2"/>
          <p:cNvSpPr>
            <a:spLocks noGrp="1"/>
          </p:cNvSpPr>
          <p:nvPr>
            <p:ph type="body" idx="1"/>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Critical Shoulder Angle</a:t>
            </a:r>
          </a:p>
        </p:txBody>
      </p:sp>
      <p:sp>
        <p:nvSpPr>
          <p:cNvPr id="3" name="Content Placeholder 2"/>
          <p:cNvSpPr>
            <a:spLocks noGrp="1"/>
          </p:cNvSpPr>
          <p:nvPr>
            <p:ph idx="1"/>
          </p:nvPr>
        </p:nvSpPr>
        <p:spPr/>
        <p:txBody>
          <a:bodyPr/>
          <a:lstStyle/>
          <a:p>
            <a:pPr>
              <a:spcAft>
                <a:spcPts val="600"/>
              </a:spcAft>
              <a:defRPr sz="1600"/>
            </a:pPr>
            <a:r>
              <a:t>Nyffeler 2006 (JBJS, 384 cites): Acromion Index 0.73 in cuff tears vs 0.64 controls (p&lt;.0001)</a:t>
            </a:r>
          </a:p>
          <a:p>
            <a:pPr>
              <a:spcAft>
                <a:spcPts val="600"/>
              </a:spcAft>
              <a:defRPr sz="1600"/>
            </a:pPr>
            <a:r>
              <a:t>Moor 2013 (BJJ): CSA combines acromial cover + glenoid inclination</a:t>
            </a:r>
          </a:p>
          <a:p>
            <a:pPr>
              <a:spcAft>
                <a:spcPts val="600"/>
              </a:spcAft>
              <a:defRPr sz="1600"/>
            </a:pPr>
            <a:r>
              <a:t>    Controls: 33.1°  |  Cuff tears: 38.0°  |  OA: 28.1°</a:t>
            </a:r>
          </a:p>
          <a:p>
            <a:pPr>
              <a:spcAft>
                <a:spcPts val="600"/>
              </a:spcAft>
              <a:defRPr sz="1600"/>
            </a:pPr>
            <a:r>
              <a:t>    CSA &gt;35° → 84% in cuff tear group  |  CSA &lt;30° → 93% in OA group</a:t>
            </a:r>
          </a:p>
          <a:p>
            <a:pPr>
              <a:spcAft>
                <a:spcPts val="600"/>
              </a:spcAft>
              <a:defRPr sz="1600"/>
            </a:pPr>
            <a:r>
              <a:t>    AUC 0.92 for discriminating cuff tears from controls</a:t>
            </a:r>
          </a:p>
          <a:p>
            <a:pPr>
              <a:spcAft>
                <a:spcPts val="600"/>
              </a:spcAft>
              <a:defRPr sz="1600"/>
            </a:pPr>
            <a:r>
              <a:t>Viehöfer 2016: Higher CSA → 23% more shear at 50° abduction (FE model)</a:t>
            </a:r>
          </a:p>
          <a:p>
            <a:pPr>
              <a:spcAft>
                <a:spcPts val="600"/>
              </a:spcAft>
              <a:defRPr sz="1600"/>
            </a:pPr>
            <a:r>
              <a:t>Davide 2016: Dose-response — CSA 34°/36°/40° by tear size (OR 1.7)</a:t>
            </a:r>
          </a:p>
          <a:p>
            <a:pPr>
              <a:spcAft>
                <a:spcPts val="600"/>
              </a:spcAft>
              <a:defRPr sz="1600"/>
            </a:pPr>
            <a:r>
              <a:t>Passaplan 2021: CSA does not change over time (≥10 yr follow-up)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CSA Predicts Surgical Failure</a:t>
            </a:r>
          </a:p>
        </p:txBody>
      </p:sp>
      <p:sp>
        <p:nvSpPr>
          <p:cNvPr id="3" name="Content Placeholder 2"/>
          <p:cNvSpPr>
            <a:spLocks noGrp="1"/>
          </p:cNvSpPr>
          <p:nvPr>
            <p:ph idx="1"/>
          </p:nvPr>
        </p:nvSpPr>
        <p:spPr/>
        <p:txBody>
          <a:bodyPr/>
          <a:lstStyle/>
          <a:p>
            <a:pPr>
              <a:spcAft>
                <a:spcPts val="600"/>
              </a:spcAft>
              <a:defRPr sz="1600"/>
            </a:pPr>
            <a:r>
              <a:t>Garcia 2017 (JSES): After cuff repair, CSA &gt;38° → OR 14.8 for retear (p&lt;.01)</a:t>
            </a:r>
          </a:p>
          <a:p>
            <a:pPr>
              <a:spcAft>
                <a:spcPts val="600"/>
              </a:spcAft>
              <a:defRPr sz="1600"/>
            </a:pPr>
            <a:r>
              <a:t>    No retear: CSA 34.3°  |  Full-thickness retear: CSA 38.6°</a:t>
            </a:r>
          </a:p>
          <a:p>
            <a:pPr>
              <a:spcAft>
                <a:spcPts val="600"/>
              </a:spcAft>
              <a:defRPr sz="1600"/>
            </a:pPr>
          </a:p>
          <a:p>
            <a:pPr>
              <a:spcAft>
                <a:spcPts val="600"/>
              </a:spcAft>
              <a:defRPr sz="1600"/>
            </a:pPr>
            <a:r>
              <a:t>Gerber 2018 (Arthroscopy, 112 cites): Lateral acromioplasty to correct CSA</a:t>
            </a:r>
          </a:p>
          <a:p>
            <a:pPr>
              <a:spcAft>
                <a:spcPts val="600"/>
              </a:spcAft>
              <a:defRPr sz="1600"/>
            </a:pPr>
            <a:r>
              <a:t>    CSA reduced from 37.5° to 33.9° (p&lt;.001)</a:t>
            </a:r>
          </a:p>
          <a:p>
            <a:pPr>
              <a:spcAft>
                <a:spcPts val="600"/>
              </a:spcAft>
              <a:defRPr sz="1600"/>
            </a:pPr>
            <a:r>
              <a:t>    CSA ≤33° → 25% more abduction strength vs CSA ≥35° (p=.04)</a:t>
            </a:r>
          </a:p>
          <a:p>
            <a:pPr>
              <a:spcAft>
                <a:spcPts val="600"/>
              </a:spcAft>
              <a:defRPr sz="1600"/>
            </a:pPr>
            <a:r>
              <a:t>    Postop CSA larger in failed than healed repairs (p=.026)</a:t>
            </a:r>
          </a:p>
          <a:p>
            <a:pPr>
              <a:spcAft>
                <a:spcPts val="600"/>
              </a:spcAft>
              <a:defRPr sz="1600"/>
            </a:pPr>
            <a:r>
              <a:t>    No deltoid dehiscence or atrophy</a:t>
            </a:r>
          </a:p>
          <a:p>
            <a:pPr>
              <a:spcAft>
                <a:spcPts val="600"/>
              </a:spcAft>
              <a:defRPr sz="1600"/>
            </a:pPr>
          </a:p>
          <a:p>
            <a:pPr>
              <a:spcAft>
                <a:spcPts val="600"/>
              </a:spcAft>
              <a:defRPr sz="1600"/>
            </a:pPr>
            <a:r>
              <a:t>Standard anterior acromioplasty does not change CSA. Only lateral does.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Posterior Acromial Morphology</a:t>
            </a:r>
          </a:p>
        </p:txBody>
      </p:sp>
      <p:sp>
        <p:nvSpPr>
          <p:cNvPr id="3" name="Content Placeholder 2"/>
          <p:cNvSpPr>
            <a:spLocks noGrp="1"/>
          </p:cNvSpPr>
          <p:nvPr>
            <p:ph idx="1"/>
          </p:nvPr>
        </p:nvSpPr>
        <p:spPr/>
        <p:txBody>
          <a:bodyPr/>
          <a:lstStyle/>
          <a:p>
            <a:pPr>
              <a:spcAft>
                <a:spcPts val="600"/>
              </a:spcAft>
              <a:defRPr sz="1600"/>
            </a:pPr>
            <a:r>
              <a:t>Meyer 2019 (JBJS, 72 cites): Posterior Acromial Height (PAH)</a:t>
            </a:r>
          </a:p>
          <a:p>
            <a:pPr>
              <a:spcAft>
                <a:spcPts val="600"/>
              </a:spcAft>
              <a:defRPr sz="1600"/>
            </a:pPr>
            <a:r>
              <a:t>    Posterior instability: 30.9mm  |  Anterior instability: 19.5mm</a:t>
            </a:r>
          </a:p>
          <a:p>
            <a:pPr>
              <a:spcAft>
                <a:spcPts val="600"/>
              </a:spcAft>
              <a:defRPr sz="1600"/>
            </a:pPr>
            <a:r>
              <a:t>    PAH ≥23mm → OR of 39 for posterior instability</a:t>
            </a:r>
          </a:p>
          <a:p>
            <a:pPr>
              <a:spcAft>
                <a:spcPts val="600"/>
              </a:spcAft>
              <a:defRPr sz="1600"/>
            </a:pPr>
          </a:p>
          <a:p>
            <a:pPr>
              <a:spcAft>
                <a:spcPts val="600"/>
              </a:spcAft>
              <a:defRPr sz="1600"/>
            </a:pPr>
            <a:r>
              <a:t>Hochreiter 2023: 3D biomechanical models — correcting glenoid alone</a:t>
            </a:r>
          </a:p>
          <a:p>
            <a:pPr>
              <a:spcAft>
                <a:spcPts val="600"/>
              </a:spcAft>
              <a:defRPr sz="1600"/>
            </a:pPr>
            <a:r>
              <a:t>    was NOT sufficient. Must correct glenoid AND acromion.</a:t>
            </a:r>
          </a:p>
          <a:p>
            <a:pPr>
              <a:spcAft>
                <a:spcPts val="600"/>
              </a:spcAft>
              <a:defRPr sz="1600"/>
            </a:pPr>
          </a:p>
          <a:p>
            <a:pPr>
              <a:spcAft>
                <a:spcPts val="600"/>
              </a:spcAft>
              <a:defRPr sz="1600"/>
            </a:pPr>
            <a:r>
              <a:t>Gerber 2025: SCOPE procedure — 3D-planned scapular osteotomies</a:t>
            </a:r>
          </a:p>
          <a:p>
            <a:pPr>
              <a:spcAft>
                <a:spcPts val="600"/>
              </a:spcAft>
              <a:defRPr sz="1600"/>
            </a:pPr>
            <a:r>
              <a:t>    n=9, 6/9 were revisions from failed prior approaches</a:t>
            </a:r>
          </a:p>
          <a:p>
            <a:pPr>
              <a:spcAft>
                <a:spcPts val="600"/>
              </a:spcAft>
              <a:defRPr sz="1600"/>
            </a:pPr>
            <a:r>
              <a:t>    Median SSV +42.5%, 8/9 improved humeral head centering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B0 Question (Speculative)</a:t>
            </a:r>
          </a:p>
        </p:txBody>
      </p:sp>
      <p:sp>
        <p:nvSpPr>
          <p:cNvPr id="3" name="Content Placeholder 2"/>
          <p:cNvSpPr>
            <a:spLocks noGrp="1"/>
          </p:cNvSpPr>
          <p:nvPr>
            <p:ph idx="1"/>
          </p:nvPr>
        </p:nvSpPr>
        <p:spPr/>
        <p:txBody>
          <a:bodyPr/>
          <a:lstStyle/>
          <a:p>
            <a:pPr>
              <a:spcAft>
                <a:spcPts val="600"/>
              </a:spcAft>
              <a:defRPr sz="1600"/>
            </a:pPr>
            <a:r>
              <a:t>Bryce 2010 (JBJS, 147 cites): Scapular rotation changes glenoid version</a:t>
            </a:r>
          </a:p>
          <a:p>
            <a:pPr>
              <a:spcAft>
                <a:spcPts val="600"/>
              </a:spcAft>
              <a:defRPr sz="1600"/>
            </a:pPr>
            <a:r>
              <a:t>    by up to 22.5° — framed as a CT measurement artifact</a:t>
            </a:r>
          </a:p>
          <a:p>
            <a:pPr>
              <a:spcAft>
                <a:spcPts val="600"/>
              </a:spcAft>
              <a:defRPr sz="1600"/>
            </a:pPr>
          </a:p>
          <a:p>
            <a:pPr>
              <a:spcAft>
                <a:spcPts val="600"/>
              </a:spcAft>
              <a:defRPr sz="1600"/>
            </a:pPr>
            <a:r>
              <a:t>But what if it's a functional biomechanical variable?</a:t>
            </a:r>
          </a:p>
          <a:p>
            <a:pPr>
              <a:spcAft>
                <a:spcPts val="600"/>
              </a:spcAft>
              <a:defRPr sz="1600"/>
            </a:pPr>
          </a:p>
          <a:p>
            <a:pPr>
              <a:spcAft>
                <a:spcPts val="600"/>
              </a:spcAft>
              <a:defRPr sz="1600"/>
            </a:pPr>
            <a:r>
              <a:t>Chronic scapular internal rotation → functional retroversion →</a:t>
            </a:r>
          </a:p>
          <a:p>
            <a:pPr>
              <a:spcAft>
                <a:spcPts val="600"/>
              </a:spcAft>
              <a:defRPr sz="1600"/>
            </a:pPr>
            <a:r>
              <a:t>    asymmetric posterior loading → B0 → B1 → B2?</a:t>
            </a:r>
          </a:p>
          <a:p>
            <a:pPr>
              <a:spcAft>
                <a:spcPts val="600"/>
              </a:spcAft>
              <a:defRPr sz="1600"/>
            </a:pPr>
          </a:p>
          <a:p>
            <a:pPr>
              <a:spcAft>
                <a:spcPts val="600"/>
              </a:spcAft>
              <a:defRPr sz="1600"/>
            </a:pPr>
            <a:r>
              <a:t>Akgun 2024 (AJSM): C1 patients have different ST orientation vs controls</a:t>
            </a:r>
          </a:p>
          <a:p>
            <a:pPr>
              <a:spcAft>
                <a:spcPts val="600"/>
              </a:spcAft>
              <a:defRPr sz="1600"/>
            </a:pPr>
          </a:p>
          <a:p>
            <a:pPr>
              <a:spcAft>
                <a:spcPts val="600"/>
              </a:spcAft>
              <a:defRPr sz="1600"/>
            </a:pPr>
            <a:r>
              <a:t>Causation vs correlation is unresolved. A question worth asking.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We Change the Joint</a:t>
            </a:r>
          </a:p>
        </p:txBody>
      </p:sp>
      <p:sp>
        <p:nvSpPr>
          <p:cNvPr id="3" name="Text Placeholder 2"/>
          <p:cNvSpPr>
            <a:spLocks noGrp="1"/>
          </p:cNvSpPr>
          <p:nvPr>
            <p:ph type="body" idx="1"/>
          </p:nvPr>
        </p:nvSpPr>
        <p:spPr/>
        <p:txBody>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rTSA Paradox</a:t>
            </a:r>
          </a:p>
        </p:txBody>
      </p:sp>
      <p:sp>
        <p:nvSpPr>
          <p:cNvPr id="3" name="Content Placeholder 2"/>
          <p:cNvSpPr>
            <a:spLocks noGrp="1"/>
          </p:cNvSpPr>
          <p:nvPr>
            <p:ph idx="1"/>
          </p:nvPr>
        </p:nvSpPr>
        <p:spPr/>
        <p:txBody>
          <a:bodyPr/>
          <a:lstStyle/>
          <a:p>
            <a:pPr>
              <a:spcAft>
                <a:spcPts val="600"/>
              </a:spcAft>
              <a:defRPr sz="1600"/>
            </a:pPr>
            <a:r>
              <a:t>Walker 2015 (JSES, 77 cites): SHR in rTSA = 1.3:1 vs normal 3:1</a:t>
            </a:r>
          </a:p>
          <a:p>
            <a:pPr>
              <a:spcAft>
                <a:spcPts val="600"/>
              </a:spcAft>
              <a:defRPr sz="1600"/>
            </a:pPr>
            <a:r>
              <a:t>    The scapula does ~half of arm elevation after rTSA, not one-third</a:t>
            </a:r>
          </a:p>
          <a:p>
            <a:pPr>
              <a:spcAft>
                <a:spcPts val="600"/>
              </a:spcAft>
              <a:defRPr sz="1600"/>
            </a:pPr>
            <a:r>
              <a:t>    n=28, fluoroscopy, 3 implant designs</a:t>
            </a:r>
          </a:p>
          <a:p>
            <a:pPr>
              <a:spcAft>
                <a:spcPts val="600"/>
              </a:spcAft>
              <a:defRPr sz="1600"/>
            </a:pPr>
          </a:p>
          <a:p>
            <a:pPr>
              <a:spcAft>
                <a:spcPts val="600"/>
              </a:spcAft>
              <a:defRPr sz="1600"/>
            </a:pPr>
            <a:r>
              <a:t>Kawashima 2025 (JSES): SHR ≥2 → ASES 94.3 vs SHR &lt;2 → ASES 82.1 (p=.007)</a:t>
            </a:r>
          </a:p>
          <a:p>
            <a:pPr>
              <a:spcAft>
                <a:spcPts val="600"/>
              </a:spcAft>
              <a:defRPr sz="1600"/>
            </a:pPr>
            <a:r>
              <a:t>    Better scapulothoracic function → better outcomes (n=20)</a:t>
            </a:r>
          </a:p>
          <a:p>
            <a:pPr>
              <a:spcAft>
                <a:spcPts val="600"/>
              </a:spcAft>
              <a:defRPr sz="1600"/>
            </a:pPr>
          </a:p>
          <a:p>
            <a:pPr>
              <a:spcAft>
                <a:spcPts val="600"/>
              </a:spcAft>
              <a:defRPr sz="1600"/>
            </a:pPr>
            <a:r>
              <a:t>Simovitch 2007 (JBJS): 44% inferior scapular notching rate</a:t>
            </a:r>
          </a:p>
          <a:p>
            <a:pPr>
              <a:spcAft>
                <a:spcPts val="600"/>
              </a:spcAft>
              <a:defRPr sz="1600"/>
            </a:pPr>
          </a:p>
          <a:p>
            <a:pPr>
              <a:spcAft>
                <a:spcPts val="600"/>
              </a:spcAft>
              <a:defRPr sz="1600"/>
            </a:pPr>
            <a:r>
              <a:t>We replaced the GH joint. The scapula now works harder, not less.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Dyskinesis Persists — and Why Prehab Matters</a:t>
            </a:r>
          </a:p>
        </p:txBody>
      </p:sp>
      <p:sp>
        <p:nvSpPr>
          <p:cNvPr id="3" name="Content Placeholder 2"/>
          <p:cNvSpPr>
            <a:spLocks noGrp="1"/>
          </p:cNvSpPr>
          <p:nvPr>
            <p:ph idx="1"/>
          </p:nvPr>
        </p:nvSpPr>
        <p:spPr/>
        <p:txBody>
          <a:bodyPr/>
          <a:lstStyle/>
          <a:p>
            <a:pPr>
              <a:spcAft>
                <a:spcPts val="600"/>
              </a:spcAft>
              <a:defRPr sz="1600"/>
            </a:pPr>
            <a:r>
              <a:t>Mercurio 2026 (JSES Int): After cuff repair, SHR shows NO significant</a:t>
            </a:r>
          </a:p>
          <a:p>
            <a:pPr>
              <a:spcAft>
                <a:spcPts val="600"/>
              </a:spcAft>
              <a:defRPr sz="1600"/>
            </a:pPr>
            <a:r>
              <a:t>    change pre vs post (p&gt;.05) despite improved ROM and Constant scores</a:t>
            </a:r>
          </a:p>
          <a:p>
            <a:pPr>
              <a:spcAft>
                <a:spcPts val="600"/>
              </a:spcAft>
              <a:defRPr sz="1600"/>
            </a:pPr>
          </a:p>
          <a:p>
            <a:pPr>
              <a:spcAft>
                <a:spcPts val="600"/>
              </a:spcAft>
              <a:defRPr sz="1600"/>
            </a:pPr>
            <a:r>
              <a:t>Gibbons 2016: Massive cuff tears → sarcomere loss, fiber shortening,</a:t>
            </a:r>
          </a:p>
          <a:p>
            <a:pPr>
              <a:spcAft>
                <a:spcPts val="600"/>
              </a:spcAft>
              <a:defRPr sz="1600"/>
            </a:pPr>
            <a:r>
              <a:t>    sarcomere length below optimal. May be irreversible after repair.</a:t>
            </a:r>
          </a:p>
          <a:p>
            <a:pPr>
              <a:spcAft>
                <a:spcPts val="600"/>
              </a:spcAft>
              <a:defRPr sz="1600"/>
            </a:pPr>
          </a:p>
          <a:p>
            <a:pPr>
              <a:spcAft>
                <a:spcPts val="600"/>
              </a:spcAft>
              <a:defRPr sz="1600"/>
            </a:pPr>
            <a:r>
              <a:t>Burkhart 2003: 96 athletes with SICK scapula, rehab only →</a:t>
            </a:r>
          </a:p>
          <a:p>
            <a:pPr>
              <a:spcAft>
                <a:spcPts val="600"/>
              </a:spcAft>
              <a:defRPr sz="1600"/>
            </a:pPr>
            <a:r>
              <a:t>    100% returned to preinjury performance. Resolution directly</a:t>
            </a:r>
          </a:p>
          <a:p>
            <a:pPr>
              <a:spcAft>
                <a:spcPts val="600"/>
              </a:spcAft>
              <a:defRPr sz="1600"/>
            </a:pPr>
            <a:r>
              <a:t>    proportional to ability to reposition the scapula.</a:t>
            </a:r>
          </a:p>
          <a:p>
            <a:pPr>
              <a:spcAft>
                <a:spcPts val="600"/>
              </a:spcAft>
              <a:defRPr sz="1600"/>
            </a:pPr>
          </a:p>
          <a:p>
            <a:pPr>
              <a:spcAft>
                <a:spcPts val="600"/>
              </a:spcAft>
              <a:defRPr sz="1600"/>
            </a:pPr>
            <a:r>
              <a:t>Camargo 2015 (JOSPT, RCT): Scapular-focused exercise improved</a:t>
            </a:r>
          </a:p>
          <a:p>
            <a:pPr>
              <a:spcAft>
                <a:spcPts val="600"/>
              </a:spcAft>
              <a:defRPr sz="1600"/>
            </a:pPr>
            <a:r>
              <a:t>    kinematics, function, and pain in impingement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Connects All of This</a:t>
            </a:r>
          </a:p>
        </p:txBody>
      </p:sp>
      <p:sp>
        <p:nvSpPr>
          <p:cNvPr id="3" name="Text Placeholder 2"/>
          <p:cNvSpPr>
            <a:spLocks noGrp="1"/>
          </p:cNvSpPr>
          <p:nvPr>
            <p:ph type="body" idx="1"/>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Unifying Observation</a:t>
            </a:r>
          </a:p>
        </p:txBody>
      </p:sp>
      <p:sp>
        <p:nvSpPr>
          <p:cNvPr id="3" name="Content Placeholder 2"/>
          <p:cNvSpPr>
            <a:spLocks noGrp="1"/>
          </p:cNvSpPr>
          <p:nvPr>
            <p:ph idx="1"/>
          </p:nvPr>
        </p:nvSpPr>
        <p:spPr/>
        <p:txBody>
          <a:bodyPr/>
          <a:lstStyle/>
          <a:p>
            <a:pPr>
              <a:spcAft>
                <a:spcPts val="600"/>
              </a:spcAft>
              <a:defRPr sz="1600"/>
            </a:pPr>
            <a:r>
              <a:t>The scapula is a bone that floats in a tension network</a:t>
            </a:r>
          </a:p>
          <a:p>
            <a:pPr>
              <a:spcAft>
                <a:spcPts val="600"/>
              </a:spcAft>
              <a:defRPr sz="1600"/>
            </a:pPr>
          </a:p>
          <a:p>
            <a:pPr>
              <a:spcAft>
                <a:spcPts val="600"/>
              </a:spcAft>
              <a:defRPr sz="1600"/>
            </a:pPr>
            <a:r>
              <a:t>Its shape determines where force is directed</a:t>
            </a:r>
          </a:p>
          <a:p>
            <a:pPr>
              <a:spcAft>
                <a:spcPts val="600"/>
              </a:spcAft>
              <a:defRPr sz="1600"/>
            </a:pPr>
            <a:r>
              <a:t>    → CSA, posterior acromial height — measurable, predictive</a:t>
            </a:r>
          </a:p>
          <a:p>
            <a:pPr>
              <a:spcAft>
                <a:spcPts val="600"/>
              </a:spcAft>
              <a:defRPr sz="1600"/>
            </a:pPr>
          </a:p>
          <a:p>
            <a:pPr>
              <a:spcAft>
                <a:spcPts val="600"/>
              </a:spcAft>
              <a:defRPr sz="1600"/>
            </a:pPr>
            <a:r>
              <a:t>Its position determines how well everything around it functions</a:t>
            </a:r>
          </a:p>
          <a:p>
            <a:pPr>
              <a:spcAft>
                <a:spcPts val="600"/>
              </a:spcAft>
              <a:defRPr sz="1600"/>
            </a:pPr>
            <a:r>
              <a:t>    → millimeters of subacromial space, 16% force changes from posture</a:t>
            </a:r>
          </a:p>
          <a:p>
            <a:pPr>
              <a:spcAft>
                <a:spcPts val="600"/>
              </a:spcAft>
              <a:defRPr sz="1600"/>
            </a:pPr>
          </a:p>
          <a:p>
            <a:pPr>
              <a:spcAft>
                <a:spcPts val="600"/>
              </a:spcAft>
              <a:defRPr sz="1600"/>
            </a:pPr>
            <a:r>
              <a:t>When we change the GH joint, the tension demands on this system increase</a:t>
            </a:r>
          </a:p>
          <a:p>
            <a:pPr>
              <a:spcAft>
                <a:spcPts val="600"/>
              </a:spcAft>
              <a:defRPr sz="1600"/>
            </a:pPr>
            <a:r>
              <a:t>    → SHR 1.3:1 after rTSA, scapular function predicts outcomes</a:t>
            </a:r>
          </a:p>
          <a:p>
            <a:pPr>
              <a:spcAft>
                <a:spcPts val="600"/>
              </a:spcAft>
              <a:defRPr sz="1600"/>
            </a:pPr>
          </a:p>
          <a:p>
            <a:pPr>
              <a:spcAft>
                <a:spcPts val="600"/>
              </a:spcAft>
              <a:defRPr sz="1600"/>
            </a:pPr>
            <a:r>
              <a:t>The biologists call this tensegrity: stability from tension balance, not compression.</a:t>
            </a:r>
          </a:p>
          <a:p>
            <a:pPr>
              <a:spcAft>
                <a:spcPts val="600"/>
              </a:spcAft>
              <a:defRPr sz="1600"/>
            </a:pPr>
            <a:r>
              <a:t>This is what the scapulothoracic articulation is.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 I'm Still Working On</a:t>
            </a:r>
          </a:p>
        </p:txBody>
      </p:sp>
      <p:sp>
        <p:nvSpPr>
          <p:cNvPr id="3" name="Content Placeholder 2"/>
          <p:cNvSpPr>
            <a:spLocks noGrp="1"/>
          </p:cNvSpPr>
          <p:nvPr>
            <p:ph idx="1"/>
          </p:nvPr>
        </p:nvSpPr>
        <p:spPr/>
        <p:txBody>
          <a:bodyPr/>
          <a:lstStyle/>
          <a:p>
            <a:pPr>
              <a:spcAft>
                <a:spcPts val="600"/>
              </a:spcAft>
              <a:defRPr sz="1600"/>
            </a:pPr>
            <a:r>
              <a:t>Does pre-operative scapular dyskinesis predict worse surgical outcomes?</a:t>
            </a:r>
          </a:p>
          <a:p>
            <a:pPr>
              <a:spcAft>
                <a:spcPts val="600"/>
              </a:spcAft>
              <a:defRPr sz="1600"/>
            </a:pPr>
          </a:p>
          <a:p>
            <a:pPr>
              <a:spcAft>
                <a:spcPts val="600"/>
              </a:spcAft>
              <a:defRPr sz="1600"/>
            </a:pPr>
            <a:r>
              <a:t>Could the Walch B0 phenotype originate as a scapulothoracic positioning problem?</a:t>
            </a:r>
          </a:p>
          <a:p>
            <a:pPr>
              <a:spcAft>
                <a:spcPts val="600"/>
              </a:spcAft>
              <a:defRPr sz="1600"/>
            </a:pPr>
          </a:p>
          <a:p>
            <a:pPr>
              <a:spcAft>
                <a:spcPts val="600"/>
              </a:spcAft>
              <a:defRPr sz="1600"/>
            </a:pPr>
            <a:r>
              <a:t>Should rTSA implant selection account for scapulothoracic reserve?</a:t>
            </a:r>
          </a:p>
          <a:p>
            <a:pPr>
              <a:spcAft>
                <a:spcPts val="600"/>
              </a:spcAft>
              <a:defRPr sz="1600"/>
            </a:pPr>
          </a:p>
          <a:p>
            <a:pPr>
              <a:spcAft>
                <a:spcPts val="600"/>
              </a:spcAft>
              <a:defRPr sz="1600"/>
            </a:pPr>
            <a:r>
              <a:t>Can scapular prehab — started early enough for sarcomere remodeling —</a:t>
            </a:r>
          </a:p>
          <a:p>
            <a:pPr>
              <a:spcAft>
                <a:spcPts val="600"/>
              </a:spcAft>
              <a:defRPr sz="1600"/>
            </a:pPr>
            <a:r>
              <a:t>    meaningfully improve arthroplasty outcomes?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Things for Monday Morning</a:t>
            </a:r>
          </a:p>
        </p:txBody>
      </p:sp>
      <p:sp>
        <p:nvSpPr>
          <p:cNvPr id="3" name="Content Placeholder 2"/>
          <p:cNvSpPr>
            <a:spLocks noGrp="1"/>
          </p:cNvSpPr>
          <p:nvPr>
            <p:ph idx="1"/>
          </p:nvPr>
        </p:nvSpPr>
        <p:spPr/>
        <p:txBody>
          <a:bodyPr/>
          <a:lstStyle/>
          <a:p>
            <a:pPr>
              <a:spcAft>
                <a:spcPts val="600"/>
              </a:spcAft>
              <a:defRPr sz="1600"/>
            </a:pPr>
            <a:r>
              <a:t>1. Scapular Assistance Test on shoulder patients</a:t>
            </a:r>
          </a:p>
          <a:p>
            <a:pPr>
              <a:spcAft>
                <a:spcPts val="600"/>
              </a:spcAft>
              <a:defRPr sz="1600"/>
            </a:pPr>
            <a:r>
              <a:t>       If repositioning the scapula changes symptoms, it's contributing</a:t>
            </a:r>
          </a:p>
          <a:p>
            <a:pPr>
              <a:spcAft>
                <a:spcPts val="600"/>
              </a:spcAft>
              <a:defRPr sz="1600"/>
            </a:pPr>
          </a:p>
          <a:p>
            <a:pPr>
              <a:spcAft>
                <a:spcPts val="600"/>
              </a:spcAft>
              <a:defRPr sz="1600"/>
            </a:pPr>
            <a:r>
              <a:t>2. Measure CSA on pre-operative shoulder radiographs</a:t>
            </a:r>
          </a:p>
          <a:p>
            <a:pPr>
              <a:spcAft>
                <a:spcPts val="600"/>
              </a:spcAft>
              <a:defRPr sz="1600"/>
            </a:pPr>
            <a:r>
              <a:t>       30 seconds. May change your surgical plan.</a:t>
            </a:r>
          </a:p>
          <a:p>
            <a:pPr>
              <a:spcAft>
                <a:spcPts val="600"/>
              </a:spcAft>
              <a:defRPr sz="1600"/>
            </a:pPr>
          </a:p>
          <a:p>
            <a:pPr>
              <a:spcAft>
                <a:spcPts val="600"/>
              </a:spcAft>
              <a:defRPr sz="1600"/>
            </a:pPr>
            <a:r>
              <a:t>3. Consider lateral acromioplasty for CSA &gt;35° at time of cuff repair</a:t>
            </a:r>
          </a:p>
          <a:p>
            <a:pPr>
              <a:spcAft>
                <a:spcPts val="600"/>
              </a:spcAft>
              <a:defRPr sz="1600"/>
            </a:pPr>
          </a:p>
          <a:p>
            <a:pPr>
              <a:spcAft>
                <a:spcPts val="600"/>
              </a:spcAft>
              <a:defRPr sz="1600"/>
            </a:pPr>
            <a:r>
              <a:t>4. Prescribe scapular-focused rehabilitation before and after surgery</a:t>
            </a:r>
          </a:p>
        </p:txBody>
      </p:sp>
    </p:spTree>
  </p:cSld>
  <p:clrMapOvr>
    <a:masterClrMapping/>
  </p:clrMapOvr>
</p:sld>
</file>

<file path=ppt/theme/theme1.xml><?xml version="1.0" encoding="utf-8"?>
<a:theme xmlns:a="http://schemas.openxmlformats.org/drawingml/2006/main" name="Theme1">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OM_Template_2">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7320</TotalTime>
  <Words>242</Words>
  <Application>Microsoft Office PowerPoint</Application>
  <PresentationFormat>Widescreen</PresentationFormat>
  <Paragraphs>33</Paragraphs>
  <Slides>9</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vt:i4>
      </vt:variant>
    </vt:vector>
  </HeadingPairs>
  <TitlesOfParts>
    <vt:vector size="18" baseType="lpstr">
      <vt:lpstr>Arboria Book</vt:lpstr>
      <vt:lpstr>Mongoose Regular</vt:lpstr>
      <vt:lpstr>Arboria Bold</vt:lpstr>
      <vt:lpstr>Times New Roman</vt:lpstr>
      <vt:lpstr>Arial</vt:lpstr>
      <vt:lpstr>Calibri</vt:lpstr>
      <vt:lpstr>Arboria Black</vt:lpstr>
      <vt:lpstr>Theme1</vt:lpstr>
      <vt:lpstr>COM_Template_2</vt:lpstr>
      <vt:lpstr>VISTING PROFESSOR</vt:lpstr>
      <vt:lpstr>Session Title</vt:lpstr>
      <vt:lpstr>Disclosure of Financial Relationships</vt:lpstr>
      <vt:lpstr>Disclosure of Financial Relationships</vt:lpstr>
      <vt:lpstr>Experimental of Off-Label Drugs/Devices/Therapies Disclosure </vt:lpstr>
      <vt:lpstr>Learning Objectives</vt:lpstr>
      <vt:lpstr>References</vt:lpstr>
      <vt:lpstr>Additional Resources</vt:lpstr>
      <vt:lpstr>QUESTIONS?</vt:lpstr>
    </vt:vector>
  </TitlesOfParts>
  <Company>ou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School – The Journey</dc:title>
  <dc:creator>com</dc:creator>
  <cp:lastModifiedBy>Trimble, Melissa A (HSC)</cp:lastModifiedBy>
  <cp:revision>672</cp:revision>
  <cp:lastPrinted>2024-04-30T20:18:09Z</cp:lastPrinted>
  <dcterms:created xsi:type="dcterms:W3CDTF">2003-05-16T18:31:56Z</dcterms:created>
  <dcterms:modified xsi:type="dcterms:W3CDTF">2026-02-16T15:30:05Z</dcterms:modified>
</cp:coreProperties>
</file>